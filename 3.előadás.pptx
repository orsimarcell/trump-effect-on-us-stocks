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5"/>
  </p:notesMasterIdLst>
  <p:sldIdLst>
    <p:sldId id="256" r:id="rId2"/>
    <p:sldId id="275" r:id="rId3"/>
    <p:sldId id="277" r:id="rId4"/>
    <p:sldId id="283" r:id="rId5"/>
    <p:sldId id="269" r:id="rId6"/>
    <p:sldId id="284" r:id="rId7"/>
    <p:sldId id="286" r:id="rId8"/>
    <p:sldId id="285" r:id="rId9"/>
    <p:sldId id="287" r:id="rId10"/>
    <p:sldId id="257" r:id="rId11"/>
    <p:sldId id="263" r:id="rId12"/>
    <p:sldId id="258" r:id="rId13"/>
    <p:sldId id="274" r:id="rId14"/>
    <p:sldId id="272" r:id="rId15"/>
    <p:sldId id="260" r:id="rId16"/>
    <p:sldId id="264" r:id="rId17"/>
    <p:sldId id="271" r:id="rId18"/>
    <p:sldId id="281" r:id="rId19"/>
    <p:sldId id="280" r:id="rId20"/>
    <p:sldId id="282" r:id="rId21"/>
    <p:sldId id="273" r:id="rId22"/>
    <p:sldId id="270" r:id="rId23"/>
    <p:sldId id="279" r:id="rId2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82768" autoAdjust="0"/>
  </p:normalViewPr>
  <p:slideViewPr>
    <p:cSldViewPr snapToGrid="0">
      <p:cViewPr varScale="1">
        <p:scale>
          <a:sx n="92" d="100"/>
          <a:sy n="92" d="100"/>
        </p:scale>
        <p:origin x="13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8C6630-5B40-4B6E-B507-0D9E66F59F2C}" type="doc">
      <dgm:prSet loTypeId="urn:microsoft.com/office/officeart/2005/8/layout/default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hu-HU"/>
        </a:p>
      </dgm:t>
    </dgm:pt>
    <dgm:pt modelId="{35EC8437-85F3-4F01-AD49-5C7A3DB9898F}">
      <dgm:prSet phldrT="[Szöveg]"/>
      <dgm:spPr/>
      <dgm:t>
        <a:bodyPr/>
        <a:lstStyle/>
        <a:p>
          <a:r>
            <a:rPr lang="hu-HU" dirty="0"/>
            <a:t>Kampányígéretek</a:t>
          </a:r>
        </a:p>
      </dgm:t>
    </dgm:pt>
    <dgm:pt modelId="{1E050E57-3AC3-4346-99F4-A75FE83319D9}" type="parTrans" cxnId="{FBB09E83-60BD-4906-B86F-6F5F4C7B8962}">
      <dgm:prSet/>
      <dgm:spPr/>
      <dgm:t>
        <a:bodyPr/>
        <a:lstStyle/>
        <a:p>
          <a:endParaRPr lang="hu-HU"/>
        </a:p>
      </dgm:t>
    </dgm:pt>
    <dgm:pt modelId="{8B811D63-BAF2-4575-80EA-65A3EE6E3144}" type="sibTrans" cxnId="{FBB09E83-60BD-4906-B86F-6F5F4C7B8962}">
      <dgm:prSet/>
      <dgm:spPr/>
      <dgm:t>
        <a:bodyPr/>
        <a:lstStyle/>
        <a:p>
          <a:endParaRPr lang="hu-HU"/>
        </a:p>
      </dgm:t>
    </dgm:pt>
    <dgm:pt modelId="{33291AA5-6775-4217-82F8-FDC280D5A175}">
      <dgm:prSet phldrT="[Szöveg]"/>
      <dgm:spPr/>
      <dgm:t>
        <a:bodyPr/>
        <a:lstStyle/>
        <a:p>
          <a:r>
            <a:rPr lang="hu-HU" dirty="0"/>
            <a:t>Rövid távú befektetői reakciók</a:t>
          </a:r>
        </a:p>
      </dgm:t>
    </dgm:pt>
    <dgm:pt modelId="{2BE4307B-38B8-4CA9-B7CE-7746C69EBF35}" type="parTrans" cxnId="{7F007DE3-B57C-43ED-BAD2-9FC86C528536}">
      <dgm:prSet/>
      <dgm:spPr/>
      <dgm:t>
        <a:bodyPr/>
        <a:lstStyle/>
        <a:p>
          <a:endParaRPr lang="hu-HU"/>
        </a:p>
      </dgm:t>
    </dgm:pt>
    <dgm:pt modelId="{93346B81-35BE-4253-99EC-AE3F799F58FF}" type="sibTrans" cxnId="{7F007DE3-B57C-43ED-BAD2-9FC86C528536}">
      <dgm:prSet/>
      <dgm:spPr/>
      <dgm:t>
        <a:bodyPr/>
        <a:lstStyle/>
        <a:p>
          <a:endParaRPr lang="hu-HU"/>
        </a:p>
      </dgm:t>
    </dgm:pt>
    <dgm:pt modelId="{8B8778BA-C4F2-4534-8230-1D1FFAFE043B}">
      <dgm:prSet phldrT="[Szöveg]"/>
      <dgm:spPr/>
      <dgm:t>
        <a:bodyPr/>
        <a:lstStyle/>
        <a:p>
          <a:r>
            <a:rPr lang="hu-HU" dirty="0"/>
            <a:t>Kiemelt szektorok</a:t>
          </a:r>
        </a:p>
      </dgm:t>
    </dgm:pt>
    <dgm:pt modelId="{84A21996-C978-4DB0-BBCE-FB7F6C1D1B74}" type="parTrans" cxnId="{E43A02E7-4DDB-4D12-A589-DE258B1F4764}">
      <dgm:prSet/>
      <dgm:spPr/>
      <dgm:t>
        <a:bodyPr/>
        <a:lstStyle/>
        <a:p>
          <a:endParaRPr lang="hu-HU"/>
        </a:p>
      </dgm:t>
    </dgm:pt>
    <dgm:pt modelId="{62FA5284-9D3E-457F-AB49-6A2809BCBF8D}" type="sibTrans" cxnId="{E43A02E7-4DDB-4D12-A589-DE258B1F4764}">
      <dgm:prSet/>
      <dgm:spPr/>
      <dgm:t>
        <a:bodyPr/>
        <a:lstStyle/>
        <a:p>
          <a:endParaRPr lang="hu-HU"/>
        </a:p>
      </dgm:t>
    </dgm:pt>
    <dgm:pt modelId="{9C5803BA-9898-4ADF-9EA5-A9482401C946}">
      <dgm:prSet phldrT="[Szöveg]"/>
      <dgm:spPr/>
      <dgm:t>
        <a:bodyPr/>
        <a:lstStyle/>
        <a:p>
          <a:r>
            <a:rPr lang="hu-HU" dirty="0"/>
            <a:t>Kockázatok</a:t>
          </a:r>
        </a:p>
      </dgm:t>
    </dgm:pt>
    <dgm:pt modelId="{3EFED2A9-63C5-4E9B-85B8-E9BB57964010}" type="parTrans" cxnId="{4DBA2617-55E4-482C-BB5E-0341F6901A88}">
      <dgm:prSet/>
      <dgm:spPr/>
      <dgm:t>
        <a:bodyPr/>
        <a:lstStyle/>
        <a:p>
          <a:endParaRPr lang="hu-HU"/>
        </a:p>
      </dgm:t>
    </dgm:pt>
    <dgm:pt modelId="{56A64685-C0EB-41FA-A076-FC95A03EED62}" type="sibTrans" cxnId="{4DBA2617-55E4-482C-BB5E-0341F6901A88}">
      <dgm:prSet/>
      <dgm:spPr/>
      <dgm:t>
        <a:bodyPr/>
        <a:lstStyle/>
        <a:p>
          <a:endParaRPr lang="hu-HU"/>
        </a:p>
      </dgm:t>
    </dgm:pt>
    <dgm:pt modelId="{A42A5952-5A17-4BF3-BADC-8C25AC3A31C8}" type="pres">
      <dgm:prSet presAssocID="{0B8C6630-5B40-4B6E-B507-0D9E66F59F2C}" presName="diagram" presStyleCnt="0">
        <dgm:presLayoutVars>
          <dgm:dir/>
          <dgm:resizeHandles val="exact"/>
        </dgm:presLayoutVars>
      </dgm:prSet>
      <dgm:spPr/>
    </dgm:pt>
    <dgm:pt modelId="{16B6DC0E-7A6A-44E0-9D4C-E9574DFB8E8D}" type="pres">
      <dgm:prSet presAssocID="{35EC8437-85F3-4F01-AD49-5C7A3DB9898F}" presName="node" presStyleLbl="node1" presStyleIdx="0" presStyleCnt="4">
        <dgm:presLayoutVars>
          <dgm:bulletEnabled val="1"/>
        </dgm:presLayoutVars>
      </dgm:prSet>
      <dgm:spPr/>
    </dgm:pt>
    <dgm:pt modelId="{7000E47F-5E77-4787-930C-6B40D874B08F}" type="pres">
      <dgm:prSet presAssocID="{8B811D63-BAF2-4575-80EA-65A3EE6E3144}" presName="sibTrans" presStyleCnt="0"/>
      <dgm:spPr/>
    </dgm:pt>
    <dgm:pt modelId="{7F9A7245-9D79-40DA-BEC4-A2F8A5D30D41}" type="pres">
      <dgm:prSet presAssocID="{33291AA5-6775-4217-82F8-FDC280D5A175}" presName="node" presStyleLbl="node1" presStyleIdx="1" presStyleCnt="4">
        <dgm:presLayoutVars>
          <dgm:bulletEnabled val="1"/>
        </dgm:presLayoutVars>
      </dgm:prSet>
      <dgm:spPr/>
    </dgm:pt>
    <dgm:pt modelId="{279667BC-E472-4574-9881-482CDB5F5B25}" type="pres">
      <dgm:prSet presAssocID="{93346B81-35BE-4253-99EC-AE3F799F58FF}" presName="sibTrans" presStyleCnt="0"/>
      <dgm:spPr/>
    </dgm:pt>
    <dgm:pt modelId="{20FB07B8-DC29-4A9F-8946-219025D2ED8E}" type="pres">
      <dgm:prSet presAssocID="{8B8778BA-C4F2-4534-8230-1D1FFAFE043B}" presName="node" presStyleLbl="node1" presStyleIdx="2" presStyleCnt="4">
        <dgm:presLayoutVars>
          <dgm:bulletEnabled val="1"/>
        </dgm:presLayoutVars>
      </dgm:prSet>
      <dgm:spPr/>
    </dgm:pt>
    <dgm:pt modelId="{03253CD5-8FFB-4B4E-96E2-A3C5BB8E7EFB}" type="pres">
      <dgm:prSet presAssocID="{62FA5284-9D3E-457F-AB49-6A2809BCBF8D}" presName="sibTrans" presStyleCnt="0"/>
      <dgm:spPr/>
    </dgm:pt>
    <dgm:pt modelId="{135858F0-F707-4549-AEDA-8D573B198B0C}" type="pres">
      <dgm:prSet presAssocID="{9C5803BA-9898-4ADF-9EA5-A9482401C946}" presName="node" presStyleLbl="node1" presStyleIdx="3" presStyleCnt="4">
        <dgm:presLayoutVars>
          <dgm:bulletEnabled val="1"/>
        </dgm:presLayoutVars>
      </dgm:prSet>
      <dgm:spPr/>
    </dgm:pt>
  </dgm:ptLst>
  <dgm:cxnLst>
    <dgm:cxn modelId="{D2ADD715-933F-431C-9994-2BD71D2A7DD2}" type="presOf" srcId="{0B8C6630-5B40-4B6E-B507-0D9E66F59F2C}" destId="{A42A5952-5A17-4BF3-BADC-8C25AC3A31C8}" srcOrd="0" destOrd="0" presId="urn:microsoft.com/office/officeart/2005/8/layout/default"/>
    <dgm:cxn modelId="{4DBA2617-55E4-482C-BB5E-0341F6901A88}" srcId="{0B8C6630-5B40-4B6E-B507-0D9E66F59F2C}" destId="{9C5803BA-9898-4ADF-9EA5-A9482401C946}" srcOrd="3" destOrd="0" parTransId="{3EFED2A9-63C5-4E9B-85B8-E9BB57964010}" sibTransId="{56A64685-C0EB-41FA-A076-FC95A03EED62}"/>
    <dgm:cxn modelId="{1E302677-DB15-4D37-BC19-18E37003F475}" type="presOf" srcId="{9C5803BA-9898-4ADF-9EA5-A9482401C946}" destId="{135858F0-F707-4549-AEDA-8D573B198B0C}" srcOrd="0" destOrd="0" presId="urn:microsoft.com/office/officeart/2005/8/layout/default"/>
    <dgm:cxn modelId="{E8BEFF7B-08E9-4E3F-B0FC-A14DB24DBB44}" type="presOf" srcId="{33291AA5-6775-4217-82F8-FDC280D5A175}" destId="{7F9A7245-9D79-40DA-BEC4-A2F8A5D30D41}" srcOrd="0" destOrd="0" presId="urn:microsoft.com/office/officeart/2005/8/layout/default"/>
    <dgm:cxn modelId="{FBB09E83-60BD-4906-B86F-6F5F4C7B8962}" srcId="{0B8C6630-5B40-4B6E-B507-0D9E66F59F2C}" destId="{35EC8437-85F3-4F01-AD49-5C7A3DB9898F}" srcOrd="0" destOrd="0" parTransId="{1E050E57-3AC3-4346-99F4-A75FE83319D9}" sibTransId="{8B811D63-BAF2-4575-80EA-65A3EE6E3144}"/>
    <dgm:cxn modelId="{472924BE-39D7-4669-81D2-A9E061BCA093}" type="presOf" srcId="{8B8778BA-C4F2-4534-8230-1D1FFAFE043B}" destId="{20FB07B8-DC29-4A9F-8946-219025D2ED8E}" srcOrd="0" destOrd="0" presId="urn:microsoft.com/office/officeart/2005/8/layout/default"/>
    <dgm:cxn modelId="{37EDD2C4-CB89-44DF-8EC7-75C0ABDBC156}" type="presOf" srcId="{35EC8437-85F3-4F01-AD49-5C7A3DB9898F}" destId="{16B6DC0E-7A6A-44E0-9D4C-E9574DFB8E8D}" srcOrd="0" destOrd="0" presId="urn:microsoft.com/office/officeart/2005/8/layout/default"/>
    <dgm:cxn modelId="{7F007DE3-B57C-43ED-BAD2-9FC86C528536}" srcId="{0B8C6630-5B40-4B6E-B507-0D9E66F59F2C}" destId="{33291AA5-6775-4217-82F8-FDC280D5A175}" srcOrd="1" destOrd="0" parTransId="{2BE4307B-38B8-4CA9-B7CE-7746C69EBF35}" sibTransId="{93346B81-35BE-4253-99EC-AE3F799F58FF}"/>
    <dgm:cxn modelId="{E43A02E7-4DDB-4D12-A589-DE258B1F4764}" srcId="{0B8C6630-5B40-4B6E-B507-0D9E66F59F2C}" destId="{8B8778BA-C4F2-4534-8230-1D1FFAFE043B}" srcOrd="2" destOrd="0" parTransId="{84A21996-C978-4DB0-BBCE-FB7F6C1D1B74}" sibTransId="{62FA5284-9D3E-457F-AB49-6A2809BCBF8D}"/>
    <dgm:cxn modelId="{8E4097DD-99A9-4041-8DF2-AB3AC093B997}" type="presParOf" srcId="{A42A5952-5A17-4BF3-BADC-8C25AC3A31C8}" destId="{16B6DC0E-7A6A-44E0-9D4C-E9574DFB8E8D}" srcOrd="0" destOrd="0" presId="urn:microsoft.com/office/officeart/2005/8/layout/default"/>
    <dgm:cxn modelId="{90BD1BD4-74B0-4302-9497-36F18640A24A}" type="presParOf" srcId="{A42A5952-5A17-4BF3-BADC-8C25AC3A31C8}" destId="{7000E47F-5E77-4787-930C-6B40D874B08F}" srcOrd="1" destOrd="0" presId="urn:microsoft.com/office/officeart/2005/8/layout/default"/>
    <dgm:cxn modelId="{FBC23550-99FB-4D44-ACA7-5B8AE6DC9924}" type="presParOf" srcId="{A42A5952-5A17-4BF3-BADC-8C25AC3A31C8}" destId="{7F9A7245-9D79-40DA-BEC4-A2F8A5D30D41}" srcOrd="2" destOrd="0" presId="urn:microsoft.com/office/officeart/2005/8/layout/default"/>
    <dgm:cxn modelId="{036F3313-C3D5-4C42-93CD-4CE39D7463E1}" type="presParOf" srcId="{A42A5952-5A17-4BF3-BADC-8C25AC3A31C8}" destId="{279667BC-E472-4574-9881-482CDB5F5B25}" srcOrd="3" destOrd="0" presId="urn:microsoft.com/office/officeart/2005/8/layout/default"/>
    <dgm:cxn modelId="{2358671A-B50D-4F97-BE3E-6A18334E443E}" type="presParOf" srcId="{A42A5952-5A17-4BF3-BADC-8C25AC3A31C8}" destId="{20FB07B8-DC29-4A9F-8946-219025D2ED8E}" srcOrd="4" destOrd="0" presId="urn:microsoft.com/office/officeart/2005/8/layout/default"/>
    <dgm:cxn modelId="{C61EFC31-B43C-4BF9-A2AA-E040077FBEF0}" type="presParOf" srcId="{A42A5952-5A17-4BF3-BADC-8C25AC3A31C8}" destId="{03253CD5-8FFB-4B4E-96E2-A3C5BB8E7EFB}" srcOrd="5" destOrd="0" presId="urn:microsoft.com/office/officeart/2005/8/layout/default"/>
    <dgm:cxn modelId="{8EE9FA30-192D-4632-907C-8E4939832F39}" type="presParOf" srcId="{A42A5952-5A17-4BF3-BADC-8C25AC3A31C8}" destId="{135858F0-F707-4549-AEDA-8D573B198B0C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3FF9C2-1128-43A7-8834-29C9FEBF107A}" type="doc">
      <dgm:prSet loTypeId="urn:microsoft.com/office/officeart/2005/8/layout/vList3" loCatId="list" qsTypeId="urn:microsoft.com/office/officeart/2005/8/quickstyle/simple1" qsCatId="simple" csTypeId="urn:microsoft.com/office/officeart/2005/8/colors/accent1_3" csCatId="accent1" phldr="1"/>
      <dgm:spPr/>
    </dgm:pt>
    <dgm:pt modelId="{453DF6BE-D79B-41B5-8EF3-3880C22781E8}">
      <dgm:prSet phldrT="[Szöveg]"/>
      <dgm:spPr/>
      <dgm:t>
        <a:bodyPr/>
        <a:lstStyle/>
        <a:p>
          <a:r>
            <a:rPr lang="hu-HU" dirty="0"/>
            <a:t>Szektorspecifikus hatás</a:t>
          </a:r>
        </a:p>
      </dgm:t>
    </dgm:pt>
    <dgm:pt modelId="{679C3482-6B01-43EE-A059-C4BE374293D5}" type="parTrans" cxnId="{9C95B893-69A7-41F4-A716-A2AF0462F279}">
      <dgm:prSet/>
      <dgm:spPr/>
      <dgm:t>
        <a:bodyPr/>
        <a:lstStyle/>
        <a:p>
          <a:endParaRPr lang="hu-HU"/>
        </a:p>
      </dgm:t>
    </dgm:pt>
    <dgm:pt modelId="{94F1FD6D-FFCF-4790-B49C-5103452536FF}" type="sibTrans" cxnId="{9C95B893-69A7-41F4-A716-A2AF0462F279}">
      <dgm:prSet/>
      <dgm:spPr/>
      <dgm:t>
        <a:bodyPr/>
        <a:lstStyle/>
        <a:p>
          <a:endParaRPr lang="hu-HU"/>
        </a:p>
      </dgm:t>
    </dgm:pt>
    <dgm:pt modelId="{197A4CFE-5522-450A-8724-E13D196E12BD}">
      <dgm:prSet phldrT="[Szöveg]"/>
      <dgm:spPr/>
      <dgm:t>
        <a:bodyPr/>
        <a:lstStyle/>
        <a:p>
          <a:r>
            <a:rPr lang="hu-HU" dirty="0"/>
            <a:t>Időzítés és bizonytalanság</a:t>
          </a:r>
        </a:p>
      </dgm:t>
    </dgm:pt>
    <dgm:pt modelId="{C504740B-34FE-4E2B-A487-814C3CBA0F5F}" type="parTrans" cxnId="{5B4E20B2-4059-43EE-BFB9-AB1A6461B320}">
      <dgm:prSet/>
      <dgm:spPr/>
      <dgm:t>
        <a:bodyPr/>
        <a:lstStyle/>
        <a:p>
          <a:endParaRPr lang="hu-HU"/>
        </a:p>
      </dgm:t>
    </dgm:pt>
    <dgm:pt modelId="{BCDD84B5-3AFD-4653-BF33-EE418A078968}" type="sibTrans" cxnId="{5B4E20B2-4059-43EE-BFB9-AB1A6461B320}">
      <dgm:prSet/>
      <dgm:spPr/>
      <dgm:t>
        <a:bodyPr/>
        <a:lstStyle/>
        <a:p>
          <a:endParaRPr lang="hu-HU"/>
        </a:p>
      </dgm:t>
    </dgm:pt>
    <dgm:pt modelId="{EE26D05D-C874-4599-B750-074B8D19792B}">
      <dgm:prSet phldrT="[Szöveg]"/>
      <dgm:spPr/>
      <dgm:t>
        <a:bodyPr/>
        <a:lstStyle/>
        <a:p>
          <a:r>
            <a:rPr lang="hu-HU" dirty="0"/>
            <a:t>Hosszabb távot már a fundamentumok határozzák meg</a:t>
          </a:r>
        </a:p>
      </dgm:t>
    </dgm:pt>
    <dgm:pt modelId="{05998B2F-FF6D-4968-BDC6-CCB8344B4937}" type="parTrans" cxnId="{EA18E694-A732-4040-982D-91F451652A30}">
      <dgm:prSet/>
      <dgm:spPr/>
      <dgm:t>
        <a:bodyPr/>
        <a:lstStyle/>
        <a:p>
          <a:endParaRPr lang="hu-HU"/>
        </a:p>
      </dgm:t>
    </dgm:pt>
    <dgm:pt modelId="{351E8DD8-5AD0-455A-9344-8E4D317CE89F}" type="sibTrans" cxnId="{EA18E694-A732-4040-982D-91F451652A30}">
      <dgm:prSet/>
      <dgm:spPr/>
      <dgm:t>
        <a:bodyPr/>
        <a:lstStyle/>
        <a:p>
          <a:endParaRPr lang="hu-HU"/>
        </a:p>
      </dgm:t>
    </dgm:pt>
    <dgm:pt modelId="{C433095D-FC40-4CFB-AEE5-385A95C3A41C}" type="pres">
      <dgm:prSet presAssocID="{B83FF9C2-1128-43A7-8834-29C9FEBF107A}" presName="linearFlow" presStyleCnt="0">
        <dgm:presLayoutVars>
          <dgm:dir/>
          <dgm:resizeHandles val="exact"/>
        </dgm:presLayoutVars>
      </dgm:prSet>
      <dgm:spPr/>
    </dgm:pt>
    <dgm:pt modelId="{989D351E-69A5-4EDC-AA99-D384CBC69FA7}" type="pres">
      <dgm:prSet presAssocID="{453DF6BE-D79B-41B5-8EF3-3880C22781E8}" presName="composite" presStyleCnt="0"/>
      <dgm:spPr/>
    </dgm:pt>
    <dgm:pt modelId="{D9231D45-A7E0-4B2F-8860-F74C7BBA7D93}" type="pres">
      <dgm:prSet presAssocID="{453DF6BE-D79B-41B5-8EF3-3880C22781E8}" presName="imgShp" presStyleLbl="fgImgPlace1" presStyleIdx="0" presStyleCnt="3"/>
      <dgm:spPr>
        <a:blipFill rotWithShape="1">
          <a:blip xmlns:r="http://schemas.openxmlformats.org/officeDocument/2006/relationships" r:embed="rId1"/>
          <a:srcRect/>
          <a:stretch>
            <a:fillRect l="-13000" r="-13000"/>
          </a:stretch>
        </a:blipFill>
      </dgm:spPr>
    </dgm:pt>
    <dgm:pt modelId="{01AC4587-716C-4E7D-ADE6-3E900D64C15E}" type="pres">
      <dgm:prSet presAssocID="{453DF6BE-D79B-41B5-8EF3-3880C22781E8}" presName="txShp" presStyleLbl="node1" presStyleIdx="0" presStyleCnt="3">
        <dgm:presLayoutVars>
          <dgm:bulletEnabled val="1"/>
        </dgm:presLayoutVars>
      </dgm:prSet>
      <dgm:spPr/>
    </dgm:pt>
    <dgm:pt modelId="{AF3E2D4B-2213-4C00-B336-3E1A03FE5965}" type="pres">
      <dgm:prSet presAssocID="{94F1FD6D-FFCF-4790-B49C-5103452536FF}" presName="spacing" presStyleCnt="0"/>
      <dgm:spPr/>
    </dgm:pt>
    <dgm:pt modelId="{DFF78B4C-C985-4150-ACE1-36C4D48B2DAB}" type="pres">
      <dgm:prSet presAssocID="{197A4CFE-5522-450A-8724-E13D196E12BD}" presName="composite" presStyleCnt="0"/>
      <dgm:spPr/>
    </dgm:pt>
    <dgm:pt modelId="{92F915FA-FD2C-4586-A725-A1A71C98A106}" type="pres">
      <dgm:prSet presAssocID="{197A4CFE-5522-450A-8724-E13D196E12BD}" presName="imgShp" presStyleLbl="fgImgPlace1" presStyleIdx="1" presStyleCnt="3"/>
      <dgm:spPr>
        <a:blipFill rotWithShape="1">
          <a:blip xmlns:r="http://schemas.openxmlformats.org/officeDocument/2006/relationships" r:embed="rId2"/>
          <a:srcRect/>
          <a:stretch>
            <a:fillRect l="-30000" r="-30000"/>
          </a:stretch>
        </a:blipFill>
      </dgm:spPr>
    </dgm:pt>
    <dgm:pt modelId="{B29BC85C-89FB-4C80-B98E-B531C4AED217}" type="pres">
      <dgm:prSet presAssocID="{197A4CFE-5522-450A-8724-E13D196E12BD}" presName="txShp" presStyleLbl="node1" presStyleIdx="1" presStyleCnt="3">
        <dgm:presLayoutVars>
          <dgm:bulletEnabled val="1"/>
        </dgm:presLayoutVars>
      </dgm:prSet>
      <dgm:spPr/>
    </dgm:pt>
    <dgm:pt modelId="{06618D00-E129-4CEC-B520-32847DC66950}" type="pres">
      <dgm:prSet presAssocID="{BCDD84B5-3AFD-4653-BF33-EE418A078968}" presName="spacing" presStyleCnt="0"/>
      <dgm:spPr/>
    </dgm:pt>
    <dgm:pt modelId="{8E4AFCD7-6B11-4FE4-8032-EC4CA7BEB470}" type="pres">
      <dgm:prSet presAssocID="{EE26D05D-C874-4599-B750-074B8D19792B}" presName="composite" presStyleCnt="0"/>
      <dgm:spPr/>
    </dgm:pt>
    <dgm:pt modelId="{10105F34-DE59-4C65-B040-53AF1476062F}" type="pres">
      <dgm:prSet presAssocID="{EE26D05D-C874-4599-B750-074B8D19792B}" presName="imgShp" presStyleLbl="fgImgPlace1" presStyleIdx="2" presStyleCnt="3"/>
      <dgm:spPr>
        <a:blipFill rotWithShape="1"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5831255E-9BA0-4C9A-8EA9-9563EC5909EB}" type="pres">
      <dgm:prSet presAssocID="{EE26D05D-C874-4599-B750-074B8D19792B}" presName="txShp" presStyleLbl="node1" presStyleIdx="2" presStyleCnt="3">
        <dgm:presLayoutVars>
          <dgm:bulletEnabled val="1"/>
        </dgm:presLayoutVars>
      </dgm:prSet>
      <dgm:spPr/>
    </dgm:pt>
  </dgm:ptLst>
  <dgm:cxnLst>
    <dgm:cxn modelId="{E228A513-4B63-455F-91C1-E36C2696CAB2}" type="presOf" srcId="{453DF6BE-D79B-41B5-8EF3-3880C22781E8}" destId="{01AC4587-716C-4E7D-ADE6-3E900D64C15E}" srcOrd="0" destOrd="0" presId="urn:microsoft.com/office/officeart/2005/8/layout/vList3"/>
    <dgm:cxn modelId="{5931C315-0030-433C-A76F-42316A75CF31}" type="presOf" srcId="{197A4CFE-5522-450A-8724-E13D196E12BD}" destId="{B29BC85C-89FB-4C80-B98E-B531C4AED217}" srcOrd="0" destOrd="0" presId="urn:microsoft.com/office/officeart/2005/8/layout/vList3"/>
    <dgm:cxn modelId="{99ECCB60-99E6-4107-A6EA-7871CF3B1D70}" type="presOf" srcId="{EE26D05D-C874-4599-B750-074B8D19792B}" destId="{5831255E-9BA0-4C9A-8EA9-9563EC5909EB}" srcOrd="0" destOrd="0" presId="urn:microsoft.com/office/officeart/2005/8/layout/vList3"/>
    <dgm:cxn modelId="{9C95B893-69A7-41F4-A716-A2AF0462F279}" srcId="{B83FF9C2-1128-43A7-8834-29C9FEBF107A}" destId="{453DF6BE-D79B-41B5-8EF3-3880C22781E8}" srcOrd="0" destOrd="0" parTransId="{679C3482-6B01-43EE-A059-C4BE374293D5}" sibTransId="{94F1FD6D-FFCF-4790-B49C-5103452536FF}"/>
    <dgm:cxn modelId="{EA18E694-A732-4040-982D-91F451652A30}" srcId="{B83FF9C2-1128-43A7-8834-29C9FEBF107A}" destId="{EE26D05D-C874-4599-B750-074B8D19792B}" srcOrd="2" destOrd="0" parTransId="{05998B2F-FF6D-4968-BDC6-CCB8344B4937}" sibTransId="{351E8DD8-5AD0-455A-9344-8E4D317CE89F}"/>
    <dgm:cxn modelId="{5B4E20B2-4059-43EE-BFB9-AB1A6461B320}" srcId="{B83FF9C2-1128-43A7-8834-29C9FEBF107A}" destId="{197A4CFE-5522-450A-8724-E13D196E12BD}" srcOrd="1" destOrd="0" parTransId="{C504740B-34FE-4E2B-A487-814C3CBA0F5F}" sibTransId="{BCDD84B5-3AFD-4653-BF33-EE418A078968}"/>
    <dgm:cxn modelId="{814A2BCB-2BB0-4069-8428-434FC2D80F35}" type="presOf" srcId="{B83FF9C2-1128-43A7-8834-29C9FEBF107A}" destId="{C433095D-FC40-4CFB-AEE5-385A95C3A41C}" srcOrd="0" destOrd="0" presId="urn:microsoft.com/office/officeart/2005/8/layout/vList3"/>
    <dgm:cxn modelId="{33F1A544-FDC7-44B5-9447-FF4CCF8BECF5}" type="presParOf" srcId="{C433095D-FC40-4CFB-AEE5-385A95C3A41C}" destId="{989D351E-69A5-4EDC-AA99-D384CBC69FA7}" srcOrd="0" destOrd="0" presId="urn:microsoft.com/office/officeart/2005/8/layout/vList3"/>
    <dgm:cxn modelId="{B941C066-9CC9-4229-9FE0-8F15641FBB36}" type="presParOf" srcId="{989D351E-69A5-4EDC-AA99-D384CBC69FA7}" destId="{D9231D45-A7E0-4B2F-8860-F74C7BBA7D93}" srcOrd="0" destOrd="0" presId="urn:microsoft.com/office/officeart/2005/8/layout/vList3"/>
    <dgm:cxn modelId="{28A92615-542C-4E74-ABF8-2DE08907D483}" type="presParOf" srcId="{989D351E-69A5-4EDC-AA99-D384CBC69FA7}" destId="{01AC4587-716C-4E7D-ADE6-3E900D64C15E}" srcOrd="1" destOrd="0" presId="urn:microsoft.com/office/officeart/2005/8/layout/vList3"/>
    <dgm:cxn modelId="{FBF49EF9-6EA2-4A8F-9AE5-814B2FB18E24}" type="presParOf" srcId="{C433095D-FC40-4CFB-AEE5-385A95C3A41C}" destId="{AF3E2D4B-2213-4C00-B336-3E1A03FE5965}" srcOrd="1" destOrd="0" presId="urn:microsoft.com/office/officeart/2005/8/layout/vList3"/>
    <dgm:cxn modelId="{60DB4088-A01D-4BC3-8A60-2F48838DA402}" type="presParOf" srcId="{C433095D-FC40-4CFB-AEE5-385A95C3A41C}" destId="{DFF78B4C-C985-4150-ACE1-36C4D48B2DAB}" srcOrd="2" destOrd="0" presId="urn:microsoft.com/office/officeart/2005/8/layout/vList3"/>
    <dgm:cxn modelId="{30FE0239-D6A1-4F9A-811D-0D74C4FA528C}" type="presParOf" srcId="{DFF78B4C-C985-4150-ACE1-36C4D48B2DAB}" destId="{92F915FA-FD2C-4586-A725-A1A71C98A106}" srcOrd="0" destOrd="0" presId="urn:microsoft.com/office/officeart/2005/8/layout/vList3"/>
    <dgm:cxn modelId="{0C1677F2-5E84-4CAB-97CD-9987556F2F97}" type="presParOf" srcId="{DFF78B4C-C985-4150-ACE1-36C4D48B2DAB}" destId="{B29BC85C-89FB-4C80-B98E-B531C4AED217}" srcOrd="1" destOrd="0" presId="urn:microsoft.com/office/officeart/2005/8/layout/vList3"/>
    <dgm:cxn modelId="{32507FD4-7CF5-4512-80F5-A3EE55153D5E}" type="presParOf" srcId="{C433095D-FC40-4CFB-AEE5-385A95C3A41C}" destId="{06618D00-E129-4CEC-B520-32847DC66950}" srcOrd="3" destOrd="0" presId="urn:microsoft.com/office/officeart/2005/8/layout/vList3"/>
    <dgm:cxn modelId="{87D1B3A3-5DDB-4C93-A07A-B179091BFE88}" type="presParOf" srcId="{C433095D-FC40-4CFB-AEE5-385A95C3A41C}" destId="{8E4AFCD7-6B11-4FE4-8032-EC4CA7BEB470}" srcOrd="4" destOrd="0" presId="urn:microsoft.com/office/officeart/2005/8/layout/vList3"/>
    <dgm:cxn modelId="{D9D1AC1E-EC46-4844-8E6C-9715F85FB51A}" type="presParOf" srcId="{8E4AFCD7-6B11-4FE4-8032-EC4CA7BEB470}" destId="{10105F34-DE59-4C65-B040-53AF1476062F}" srcOrd="0" destOrd="0" presId="urn:microsoft.com/office/officeart/2005/8/layout/vList3"/>
    <dgm:cxn modelId="{2C1EE6B3-A422-470C-9E40-81316176B6FE}" type="presParOf" srcId="{8E4AFCD7-6B11-4FE4-8032-EC4CA7BEB470}" destId="{5831255E-9BA0-4C9A-8EA9-9563EC5909E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B264F4-1881-494D-A4CC-3078AF11B236}" type="doc">
      <dgm:prSet loTypeId="urn:microsoft.com/office/officeart/2005/8/layout/list1" loCatId="list" qsTypeId="urn:microsoft.com/office/officeart/2005/8/quickstyle/simple1" qsCatId="simple" csTypeId="urn:microsoft.com/office/officeart/2005/8/colors/accent1_3" csCatId="accent1" phldr="1"/>
      <dgm:spPr/>
    </dgm:pt>
    <dgm:pt modelId="{71FDF5ED-2B86-4241-A5CA-5DCB9098DFA0}">
      <dgm:prSet phldrT="[Szöveg]"/>
      <dgm:spPr/>
      <dgm:t>
        <a:bodyPr/>
        <a:lstStyle/>
        <a:p>
          <a:r>
            <a:rPr lang="hu-HU" dirty="0"/>
            <a:t>Megismételt 2016</a:t>
          </a:r>
        </a:p>
      </dgm:t>
    </dgm:pt>
    <dgm:pt modelId="{FA09E63A-0198-42E9-8F5C-168E857A4217}" type="parTrans" cxnId="{28CD3CE7-E16D-41F1-888E-5EEE746521A9}">
      <dgm:prSet/>
      <dgm:spPr/>
      <dgm:t>
        <a:bodyPr/>
        <a:lstStyle/>
        <a:p>
          <a:endParaRPr lang="hu-HU"/>
        </a:p>
      </dgm:t>
    </dgm:pt>
    <dgm:pt modelId="{18EDFC36-257C-4DD9-8236-4D9F08E192A5}" type="sibTrans" cxnId="{28CD3CE7-E16D-41F1-888E-5EEE746521A9}">
      <dgm:prSet/>
      <dgm:spPr/>
      <dgm:t>
        <a:bodyPr/>
        <a:lstStyle/>
        <a:p>
          <a:endParaRPr lang="hu-HU"/>
        </a:p>
      </dgm:t>
    </dgm:pt>
    <dgm:pt modelId="{1085FC0E-5C13-4776-9903-3DDAB2501289}">
      <dgm:prSet phldrT="[Szöveg]"/>
      <dgm:spPr/>
      <dgm:t>
        <a:bodyPr/>
        <a:lstStyle/>
        <a:p>
          <a:r>
            <a:rPr lang="hu-HU" dirty="0"/>
            <a:t>Felfokozott bizonytalanság</a:t>
          </a:r>
        </a:p>
      </dgm:t>
    </dgm:pt>
    <dgm:pt modelId="{03C76EEF-8298-4299-9564-29B2B1E18317}" type="parTrans" cxnId="{7F54B002-ECC4-48DB-8214-13022577FC70}">
      <dgm:prSet/>
      <dgm:spPr/>
      <dgm:t>
        <a:bodyPr/>
        <a:lstStyle/>
        <a:p>
          <a:endParaRPr lang="hu-HU"/>
        </a:p>
      </dgm:t>
    </dgm:pt>
    <dgm:pt modelId="{BCB535AB-91F0-4D0F-9E80-414939CC2DC1}" type="sibTrans" cxnId="{7F54B002-ECC4-48DB-8214-13022577FC70}">
      <dgm:prSet/>
      <dgm:spPr/>
      <dgm:t>
        <a:bodyPr/>
        <a:lstStyle/>
        <a:p>
          <a:endParaRPr lang="hu-HU"/>
        </a:p>
      </dgm:t>
    </dgm:pt>
    <dgm:pt modelId="{69C57963-D8A6-40D3-BA5D-53FC07FB1390}">
      <dgm:prSet phldrT="[Szöveg]"/>
      <dgm:spPr/>
      <dgm:t>
        <a:bodyPr/>
        <a:lstStyle/>
        <a:p>
          <a:r>
            <a:rPr lang="hu-HU" dirty="0"/>
            <a:t>Globális „sokkhullám”</a:t>
          </a:r>
        </a:p>
      </dgm:t>
    </dgm:pt>
    <dgm:pt modelId="{B863E4D0-9D7D-4E64-9DAF-FFEA0E3D50E2}" type="parTrans" cxnId="{345DA293-96A5-4231-86AF-914C816AF52B}">
      <dgm:prSet/>
      <dgm:spPr/>
      <dgm:t>
        <a:bodyPr/>
        <a:lstStyle/>
        <a:p>
          <a:endParaRPr lang="hu-HU"/>
        </a:p>
      </dgm:t>
    </dgm:pt>
    <dgm:pt modelId="{67170D98-A0E8-48A3-B100-5A65B3377A2E}" type="sibTrans" cxnId="{345DA293-96A5-4231-86AF-914C816AF52B}">
      <dgm:prSet/>
      <dgm:spPr/>
      <dgm:t>
        <a:bodyPr/>
        <a:lstStyle/>
        <a:p>
          <a:endParaRPr lang="hu-HU"/>
        </a:p>
      </dgm:t>
    </dgm:pt>
    <dgm:pt modelId="{79BC09E7-70A9-42EE-8D8C-E1E91891428B}">
      <dgm:prSet/>
      <dgm:spPr/>
      <dgm:t>
        <a:bodyPr/>
        <a:lstStyle/>
        <a:p>
          <a:endParaRPr lang="hu-HU" dirty="0"/>
        </a:p>
      </dgm:t>
    </dgm:pt>
    <dgm:pt modelId="{0638BB68-3F6A-4ABD-B56D-5BD9DD60BFA2}" type="parTrans" cxnId="{C3A36C47-1F45-4376-9122-39CBBA454D42}">
      <dgm:prSet/>
      <dgm:spPr/>
      <dgm:t>
        <a:bodyPr/>
        <a:lstStyle/>
        <a:p>
          <a:endParaRPr lang="hu-HU"/>
        </a:p>
      </dgm:t>
    </dgm:pt>
    <dgm:pt modelId="{AD315C53-85D4-43A7-82F1-3CF9C7631BA3}" type="sibTrans" cxnId="{C3A36C47-1F45-4376-9122-39CBBA454D42}">
      <dgm:prSet/>
      <dgm:spPr/>
      <dgm:t>
        <a:bodyPr/>
        <a:lstStyle/>
        <a:p>
          <a:endParaRPr lang="hu-HU"/>
        </a:p>
      </dgm:t>
    </dgm:pt>
    <dgm:pt modelId="{A821F365-B1D1-4CE4-AF40-77992C4B6A27}" type="pres">
      <dgm:prSet presAssocID="{06B264F4-1881-494D-A4CC-3078AF11B236}" presName="linear" presStyleCnt="0">
        <dgm:presLayoutVars>
          <dgm:dir/>
          <dgm:animLvl val="lvl"/>
          <dgm:resizeHandles val="exact"/>
        </dgm:presLayoutVars>
      </dgm:prSet>
      <dgm:spPr/>
    </dgm:pt>
    <dgm:pt modelId="{BDA8D44F-EE84-4003-8F98-0D24A20757B8}" type="pres">
      <dgm:prSet presAssocID="{71FDF5ED-2B86-4241-A5CA-5DCB9098DFA0}" presName="parentLin" presStyleCnt="0"/>
      <dgm:spPr/>
    </dgm:pt>
    <dgm:pt modelId="{8DDA64C3-16E5-4021-A3C9-71286759795A}" type="pres">
      <dgm:prSet presAssocID="{71FDF5ED-2B86-4241-A5CA-5DCB9098DFA0}" presName="parentLeftMargin" presStyleLbl="node1" presStyleIdx="0" presStyleCnt="3"/>
      <dgm:spPr/>
    </dgm:pt>
    <dgm:pt modelId="{7A0BACB8-CB7E-4E50-840E-E6A5FD94E2E6}" type="pres">
      <dgm:prSet presAssocID="{71FDF5ED-2B86-4241-A5CA-5DCB9098DFA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B36E6A4-06BE-4CAD-8570-5D988B42A24B}" type="pres">
      <dgm:prSet presAssocID="{71FDF5ED-2B86-4241-A5CA-5DCB9098DFA0}" presName="negativeSpace" presStyleCnt="0"/>
      <dgm:spPr/>
    </dgm:pt>
    <dgm:pt modelId="{9364C667-E322-4420-8B68-71F8BE300D04}" type="pres">
      <dgm:prSet presAssocID="{71FDF5ED-2B86-4241-A5CA-5DCB9098DFA0}" presName="childText" presStyleLbl="conFgAcc1" presStyleIdx="0" presStyleCnt="3">
        <dgm:presLayoutVars>
          <dgm:bulletEnabled val="1"/>
        </dgm:presLayoutVars>
      </dgm:prSet>
      <dgm:spPr/>
    </dgm:pt>
    <dgm:pt modelId="{CEEE40F7-CC21-4A6A-8259-4331648EB577}" type="pres">
      <dgm:prSet presAssocID="{18EDFC36-257C-4DD9-8236-4D9F08E192A5}" presName="spaceBetweenRectangles" presStyleCnt="0"/>
      <dgm:spPr/>
    </dgm:pt>
    <dgm:pt modelId="{399EB715-BB64-438B-875D-F83F10AFB4E1}" type="pres">
      <dgm:prSet presAssocID="{1085FC0E-5C13-4776-9903-3DDAB2501289}" presName="parentLin" presStyleCnt="0"/>
      <dgm:spPr/>
    </dgm:pt>
    <dgm:pt modelId="{71034125-0DB2-44B1-8B8B-53718B04C7AF}" type="pres">
      <dgm:prSet presAssocID="{1085FC0E-5C13-4776-9903-3DDAB2501289}" presName="parentLeftMargin" presStyleLbl="node1" presStyleIdx="0" presStyleCnt="3"/>
      <dgm:spPr/>
    </dgm:pt>
    <dgm:pt modelId="{D9B00693-A811-4B08-80CB-C227D1A3FE48}" type="pres">
      <dgm:prSet presAssocID="{1085FC0E-5C13-4776-9903-3DDAB250128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3CEC031-9872-4FAB-A3F7-EB0DFA1B887C}" type="pres">
      <dgm:prSet presAssocID="{1085FC0E-5C13-4776-9903-3DDAB2501289}" presName="negativeSpace" presStyleCnt="0"/>
      <dgm:spPr/>
    </dgm:pt>
    <dgm:pt modelId="{DE007E19-14D0-4C5F-AE0F-BBA7918DC2AC}" type="pres">
      <dgm:prSet presAssocID="{1085FC0E-5C13-4776-9903-3DDAB2501289}" presName="childText" presStyleLbl="conFgAcc1" presStyleIdx="1" presStyleCnt="3">
        <dgm:presLayoutVars>
          <dgm:bulletEnabled val="1"/>
        </dgm:presLayoutVars>
      </dgm:prSet>
      <dgm:spPr/>
    </dgm:pt>
    <dgm:pt modelId="{326026A3-316A-45B4-9ECD-DCBC703C2D1D}" type="pres">
      <dgm:prSet presAssocID="{BCB535AB-91F0-4D0F-9E80-414939CC2DC1}" presName="spaceBetweenRectangles" presStyleCnt="0"/>
      <dgm:spPr/>
    </dgm:pt>
    <dgm:pt modelId="{A9FB2336-08AD-4F45-99C2-7527ADDB7B96}" type="pres">
      <dgm:prSet presAssocID="{69C57963-D8A6-40D3-BA5D-53FC07FB1390}" presName="parentLin" presStyleCnt="0"/>
      <dgm:spPr/>
    </dgm:pt>
    <dgm:pt modelId="{CEC47D90-A8E2-42BF-9F17-C831AD3D96BF}" type="pres">
      <dgm:prSet presAssocID="{69C57963-D8A6-40D3-BA5D-53FC07FB1390}" presName="parentLeftMargin" presStyleLbl="node1" presStyleIdx="1" presStyleCnt="3"/>
      <dgm:spPr/>
    </dgm:pt>
    <dgm:pt modelId="{364A28F6-63E2-4637-8D43-4112BC5EC279}" type="pres">
      <dgm:prSet presAssocID="{69C57963-D8A6-40D3-BA5D-53FC07FB139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8D3E647-9A20-4619-8E0C-4355C5E8949F}" type="pres">
      <dgm:prSet presAssocID="{69C57963-D8A6-40D3-BA5D-53FC07FB1390}" presName="negativeSpace" presStyleCnt="0"/>
      <dgm:spPr/>
    </dgm:pt>
    <dgm:pt modelId="{4E8D9C58-CF34-4DC8-89CF-23CABB58F67C}" type="pres">
      <dgm:prSet presAssocID="{69C57963-D8A6-40D3-BA5D-53FC07FB139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EE8CA01-227B-44EF-8401-33744298E023}" type="presOf" srcId="{79BC09E7-70A9-42EE-8D8C-E1E91891428B}" destId="{9364C667-E322-4420-8B68-71F8BE300D04}" srcOrd="0" destOrd="0" presId="urn:microsoft.com/office/officeart/2005/8/layout/list1"/>
    <dgm:cxn modelId="{7F54B002-ECC4-48DB-8214-13022577FC70}" srcId="{06B264F4-1881-494D-A4CC-3078AF11B236}" destId="{1085FC0E-5C13-4776-9903-3DDAB2501289}" srcOrd="1" destOrd="0" parTransId="{03C76EEF-8298-4299-9564-29B2B1E18317}" sibTransId="{BCB535AB-91F0-4D0F-9E80-414939CC2DC1}"/>
    <dgm:cxn modelId="{F6B6C81F-FA14-452F-94D8-4787647345D9}" type="presOf" srcId="{06B264F4-1881-494D-A4CC-3078AF11B236}" destId="{A821F365-B1D1-4CE4-AF40-77992C4B6A27}" srcOrd="0" destOrd="0" presId="urn:microsoft.com/office/officeart/2005/8/layout/list1"/>
    <dgm:cxn modelId="{0FC1E927-ADE1-4791-BD64-293F1086ABC7}" type="presOf" srcId="{1085FC0E-5C13-4776-9903-3DDAB2501289}" destId="{71034125-0DB2-44B1-8B8B-53718B04C7AF}" srcOrd="0" destOrd="0" presId="urn:microsoft.com/office/officeart/2005/8/layout/list1"/>
    <dgm:cxn modelId="{5114AB39-CF65-4693-8D35-C6E5009F18C8}" type="presOf" srcId="{69C57963-D8A6-40D3-BA5D-53FC07FB1390}" destId="{364A28F6-63E2-4637-8D43-4112BC5EC279}" srcOrd="1" destOrd="0" presId="urn:microsoft.com/office/officeart/2005/8/layout/list1"/>
    <dgm:cxn modelId="{959EB75B-1648-49FB-A51F-CAFC5EC64B9C}" type="presOf" srcId="{1085FC0E-5C13-4776-9903-3DDAB2501289}" destId="{D9B00693-A811-4B08-80CB-C227D1A3FE48}" srcOrd="1" destOrd="0" presId="urn:microsoft.com/office/officeart/2005/8/layout/list1"/>
    <dgm:cxn modelId="{C3A36C47-1F45-4376-9122-39CBBA454D42}" srcId="{71FDF5ED-2B86-4241-A5CA-5DCB9098DFA0}" destId="{79BC09E7-70A9-42EE-8D8C-E1E91891428B}" srcOrd="0" destOrd="0" parTransId="{0638BB68-3F6A-4ABD-B56D-5BD9DD60BFA2}" sibTransId="{AD315C53-85D4-43A7-82F1-3CF9C7631BA3}"/>
    <dgm:cxn modelId="{DD789D78-B2B1-49B8-BC94-8EC93986CA09}" type="presOf" srcId="{71FDF5ED-2B86-4241-A5CA-5DCB9098DFA0}" destId="{8DDA64C3-16E5-4021-A3C9-71286759795A}" srcOrd="0" destOrd="0" presId="urn:microsoft.com/office/officeart/2005/8/layout/list1"/>
    <dgm:cxn modelId="{345DA293-96A5-4231-86AF-914C816AF52B}" srcId="{06B264F4-1881-494D-A4CC-3078AF11B236}" destId="{69C57963-D8A6-40D3-BA5D-53FC07FB1390}" srcOrd="2" destOrd="0" parTransId="{B863E4D0-9D7D-4E64-9DAF-FFEA0E3D50E2}" sibTransId="{67170D98-A0E8-48A3-B100-5A65B3377A2E}"/>
    <dgm:cxn modelId="{AF5BC6C8-A9FA-4D28-9537-779BABB16A7E}" type="presOf" srcId="{69C57963-D8A6-40D3-BA5D-53FC07FB1390}" destId="{CEC47D90-A8E2-42BF-9F17-C831AD3D96BF}" srcOrd="0" destOrd="0" presId="urn:microsoft.com/office/officeart/2005/8/layout/list1"/>
    <dgm:cxn modelId="{40D677D2-8638-479E-9216-78328FB3A7A4}" type="presOf" srcId="{71FDF5ED-2B86-4241-A5CA-5DCB9098DFA0}" destId="{7A0BACB8-CB7E-4E50-840E-E6A5FD94E2E6}" srcOrd="1" destOrd="0" presId="urn:microsoft.com/office/officeart/2005/8/layout/list1"/>
    <dgm:cxn modelId="{28CD3CE7-E16D-41F1-888E-5EEE746521A9}" srcId="{06B264F4-1881-494D-A4CC-3078AF11B236}" destId="{71FDF5ED-2B86-4241-A5CA-5DCB9098DFA0}" srcOrd="0" destOrd="0" parTransId="{FA09E63A-0198-42E9-8F5C-168E857A4217}" sibTransId="{18EDFC36-257C-4DD9-8236-4D9F08E192A5}"/>
    <dgm:cxn modelId="{C722D2CF-3E6E-46AD-B11E-93216C12A833}" type="presParOf" srcId="{A821F365-B1D1-4CE4-AF40-77992C4B6A27}" destId="{BDA8D44F-EE84-4003-8F98-0D24A20757B8}" srcOrd="0" destOrd="0" presId="urn:microsoft.com/office/officeart/2005/8/layout/list1"/>
    <dgm:cxn modelId="{99B20E8A-0F78-4304-BB9E-8CA0BF63AC0A}" type="presParOf" srcId="{BDA8D44F-EE84-4003-8F98-0D24A20757B8}" destId="{8DDA64C3-16E5-4021-A3C9-71286759795A}" srcOrd="0" destOrd="0" presId="urn:microsoft.com/office/officeart/2005/8/layout/list1"/>
    <dgm:cxn modelId="{D07F53D7-3F45-4803-9229-5C191965EB2D}" type="presParOf" srcId="{BDA8D44F-EE84-4003-8F98-0D24A20757B8}" destId="{7A0BACB8-CB7E-4E50-840E-E6A5FD94E2E6}" srcOrd="1" destOrd="0" presId="urn:microsoft.com/office/officeart/2005/8/layout/list1"/>
    <dgm:cxn modelId="{EF653776-6C29-4CC4-82EA-411C4ADA6E2E}" type="presParOf" srcId="{A821F365-B1D1-4CE4-AF40-77992C4B6A27}" destId="{FB36E6A4-06BE-4CAD-8570-5D988B42A24B}" srcOrd="1" destOrd="0" presId="urn:microsoft.com/office/officeart/2005/8/layout/list1"/>
    <dgm:cxn modelId="{28277E30-1961-43B9-9C91-2DE2D8BAFAB7}" type="presParOf" srcId="{A821F365-B1D1-4CE4-AF40-77992C4B6A27}" destId="{9364C667-E322-4420-8B68-71F8BE300D04}" srcOrd="2" destOrd="0" presId="urn:microsoft.com/office/officeart/2005/8/layout/list1"/>
    <dgm:cxn modelId="{F134442B-CBA6-47A6-BCD2-2B31B662561E}" type="presParOf" srcId="{A821F365-B1D1-4CE4-AF40-77992C4B6A27}" destId="{CEEE40F7-CC21-4A6A-8259-4331648EB577}" srcOrd="3" destOrd="0" presId="urn:microsoft.com/office/officeart/2005/8/layout/list1"/>
    <dgm:cxn modelId="{B2A9046B-BE39-4C96-9B2D-7D0418BB7F9C}" type="presParOf" srcId="{A821F365-B1D1-4CE4-AF40-77992C4B6A27}" destId="{399EB715-BB64-438B-875D-F83F10AFB4E1}" srcOrd="4" destOrd="0" presId="urn:microsoft.com/office/officeart/2005/8/layout/list1"/>
    <dgm:cxn modelId="{A4FD845B-748C-4E5D-898A-72BDC6B847F3}" type="presParOf" srcId="{399EB715-BB64-438B-875D-F83F10AFB4E1}" destId="{71034125-0DB2-44B1-8B8B-53718B04C7AF}" srcOrd="0" destOrd="0" presId="urn:microsoft.com/office/officeart/2005/8/layout/list1"/>
    <dgm:cxn modelId="{6855ED0E-8E52-4D1E-ADD9-C6EDC4D3D66D}" type="presParOf" srcId="{399EB715-BB64-438B-875D-F83F10AFB4E1}" destId="{D9B00693-A811-4B08-80CB-C227D1A3FE48}" srcOrd="1" destOrd="0" presId="urn:microsoft.com/office/officeart/2005/8/layout/list1"/>
    <dgm:cxn modelId="{E2B01406-D722-4DDD-B4AD-E1E193A49952}" type="presParOf" srcId="{A821F365-B1D1-4CE4-AF40-77992C4B6A27}" destId="{03CEC031-9872-4FAB-A3F7-EB0DFA1B887C}" srcOrd="5" destOrd="0" presId="urn:microsoft.com/office/officeart/2005/8/layout/list1"/>
    <dgm:cxn modelId="{BCB053D2-F126-4544-A6A3-417D061D465F}" type="presParOf" srcId="{A821F365-B1D1-4CE4-AF40-77992C4B6A27}" destId="{DE007E19-14D0-4C5F-AE0F-BBA7918DC2AC}" srcOrd="6" destOrd="0" presId="urn:microsoft.com/office/officeart/2005/8/layout/list1"/>
    <dgm:cxn modelId="{DCD3E8FF-D6CE-4291-9855-0025A123DDB9}" type="presParOf" srcId="{A821F365-B1D1-4CE4-AF40-77992C4B6A27}" destId="{326026A3-316A-45B4-9ECD-DCBC703C2D1D}" srcOrd="7" destOrd="0" presId="urn:microsoft.com/office/officeart/2005/8/layout/list1"/>
    <dgm:cxn modelId="{FC83D080-EB20-4824-AA85-BD96494F5406}" type="presParOf" srcId="{A821F365-B1D1-4CE4-AF40-77992C4B6A27}" destId="{A9FB2336-08AD-4F45-99C2-7527ADDB7B96}" srcOrd="8" destOrd="0" presId="urn:microsoft.com/office/officeart/2005/8/layout/list1"/>
    <dgm:cxn modelId="{85A4FE8C-2BFA-45D6-BBB1-9095C155319B}" type="presParOf" srcId="{A9FB2336-08AD-4F45-99C2-7527ADDB7B96}" destId="{CEC47D90-A8E2-42BF-9F17-C831AD3D96BF}" srcOrd="0" destOrd="0" presId="urn:microsoft.com/office/officeart/2005/8/layout/list1"/>
    <dgm:cxn modelId="{78658D97-8810-4E74-80BB-2084172A0B76}" type="presParOf" srcId="{A9FB2336-08AD-4F45-99C2-7527ADDB7B96}" destId="{364A28F6-63E2-4637-8D43-4112BC5EC279}" srcOrd="1" destOrd="0" presId="urn:microsoft.com/office/officeart/2005/8/layout/list1"/>
    <dgm:cxn modelId="{880FDE4E-9A80-4A63-9B1D-A7A154A1B6D1}" type="presParOf" srcId="{A821F365-B1D1-4CE4-AF40-77992C4B6A27}" destId="{18D3E647-9A20-4619-8E0C-4355C5E8949F}" srcOrd="9" destOrd="0" presId="urn:microsoft.com/office/officeart/2005/8/layout/list1"/>
    <dgm:cxn modelId="{E0A0AE49-BA5C-4253-8218-5A437BB8912D}" type="presParOf" srcId="{A821F365-B1D1-4CE4-AF40-77992C4B6A27}" destId="{4E8D9C58-CF34-4DC8-89CF-23CABB58F67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74DF41-DEC8-4AC8-9FF8-AF3EF476CED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EDF5489-967F-4B7E-BE56-9B43C619890C}">
      <dgm:prSet/>
      <dgm:spPr/>
      <dgm:t>
        <a:bodyPr/>
        <a:lstStyle/>
        <a:p>
          <a:r>
            <a:rPr lang="hu-HU"/>
            <a:t>Kutatási kérdés: Hogyan hat az orosz-ukrán konfliktus a kiválasztott részvénypiacokra?</a:t>
          </a:r>
          <a:endParaRPr lang="en-US"/>
        </a:p>
      </dgm:t>
    </dgm:pt>
    <dgm:pt modelId="{287B3120-BBDD-46C8-8BA1-DEBE3D6DE465}" type="parTrans" cxnId="{0DD89EC0-455E-47F5-BA50-05F26DD89424}">
      <dgm:prSet/>
      <dgm:spPr/>
      <dgm:t>
        <a:bodyPr/>
        <a:lstStyle/>
        <a:p>
          <a:endParaRPr lang="en-US"/>
        </a:p>
      </dgm:t>
    </dgm:pt>
    <dgm:pt modelId="{93ECD222-6F1A-462E-A7C8-2D13AC5BB114}" type="sibTrans" cxnId="{0DD89EC0-455E-47F5-BA50-05F26DD89424}">
      <dgm:prSet/>
      <dgm:spPr/>
      <dgm:t>
        <a:bodyPr/>
        <a:lstStyle/>
        <a:p>
          <a:endParaRPr lang="en-US"/>
        </a:p>
      </dgm:t>
    </dgm:pt>
    <dgm:pt modelId="{4A21BF2C-8AEE-4A29-B8B0-92921F54D1BA}">
      <dgm:prSet/>
      <dgm:spPr/>
      <dgm:t>
        <a:bodyPr/>
        <a:lstStyle/>
        <a:p>
          <a:r>
            <a:rPr lang="hu-HU"/>
            <a:t>Kiválasztott országok: G20-as országok, illetve akinek jelentős kereskedelmi kapcsolata volt Oroszországgal </a:t>
          </a:r>
          <a:endParaRPr lang="en-US"/>
        </a:p>
      </dgm:t>
    </dgm:pt>
    <dgm:pt modelId="{144E2EEC-94C6-4085-BED6-9C935CECF6B9}" type="parTrans" cxnId="{A5AE4030-D523-48B7-A051-3CC189CC1E2F}">
      <dgm:prSet/>
      <dgm:spPr/>
      <dgm:t>
        <a:bodyPr/>
        <a:lstStyle/>
        <a:p>
          <a:endParaRPr lang="en-US"/>
        </a:p>
      </dgm:t>
    </dgm:pt>
    <dgm:pt modelId="{652D6ABE-3298-46A2-BF41-E718C4E128C4}" type="sibTrans" cxnId="{A5AE4030-D523-48B7-A051-3CC189CC1E2F}">
      <dgm:prSet/>
      <dgm:spPr/>
      <dgm:t>
        <a:bodyPr/>
        <a:lstStyle/>
        <a:p>
          <a:endParaRPr lang="en-US"/>
        </a:p>
      </dgm:t>
    </dgm:pt>
    <dgm:pt modelId="{E556B617-024B-4BD3-985F-81CE30945A17}">
      <dgm:prSet/>
      <dgm:spPr/>
      <dgm:t>
        <a:bodyPr/>
        <a:lstStyle/>
        <a:p>
          <a:r>
            <a:rPr lang="hu-HU"/>
            <a:t>Napi árfolyamadatokból +- 5napos eseményidőszak 120 napos becslési időszak</a:t>
          </a:r>
          <a:endParaRPr lang="en-US"/>
        </a:p>
      </dgm:t>
    </dgm:pt>
    <dgm:pt modelId="{1881F2BE-607A-4B8A-A2CE-FBDF5C9C11DE}" type="parTrans" cxnId="{1E6D5576-50F9-48E9-B769-4C0559616144}">
      <dgm:prSet/>
      <dgm:spPr/>
      <dgm:t>
        <a:bodyPr/>
        <a:lstStyle/>
        <a:p>
          <a:endParaRPr lang="en-US"/>
        </a:p>
      </dgm:t>
    </dgm:pt>
    <dgm:pt modelId="{9B78C8A2-6AAA-47F2-A2C3-9C234ABBF72C}" type="sibTrans" cxnId="{1E6D5576-50F9-48E9-B769-4C0559616144}">
      <dgm:prSet/>
      <dgm:spPr/>
      <dgm:t>
        <a:bodyPr/>
        <a:lstStyle/>
        <a:p>
          <a:endParaRPr lang="en-US"/>
        </a:p>
      </dgm:t>
    </dgm:pt>
    <dgm:pt modelId="{33F3377B-D211-4500-B8A6-C1FA566BF651}">
      <dgm:prSet/>
      <dgm:spPr/>
      <dgm:t>
        <a:bodyPr/>
        <a:lstStyle/>
        <a:p>
          <a:r>
            <a:rPr lang="hu-HU"/>
            <a:t>Csak kereskedési napok</a:t>
          </a:r>
          <a:endParaRPr lang="en-US"/>
        </a:p>
      </dgm:t>
    </dgm:pt>
    <dgm:pt modelId="{EE174FD0-788F-46C6-959B-E218447D104F}" type="parTrans" cxnId="{881D5585-F9E1-4A7B-A5A9-4ACDBD66653B}">
      <dgm:prSet/>
      <dgm:spPr/>
      <dgm:t>
        <a:bodyPr/>
        <a:lstStyle/>
        <a:p>
          <a:endParaRPr lang="en-US"/>
        </a:p>
      </dgm:t>
    </dgm:pt>
    <dgm:pt modelId="{D9D8E59A-9D9E-4D6F-8CEA-D22D363F54C9}" type="sibTrans" cxnId="{881D5585-F9E1-4A7B-A5A9-4ACDBD66653B}">
      <dgm:prSet/>
      <dgm:spPr/>
      <dgm:t>
        <a:bodyPr/>
        <a:lstStyle/>
        <a:p>
          <a:endParaRPr lang="en-US"/>
        </a:p>
      </dgm:t>
    </dgm:pt>
    <dgm:pt modelId="{4E6F39E4-5445-4C9D-AE25-AA05E554F553}" type="pres">
      <dgm:prSet presAssocID="{2B74DF41-DEC8-4AC8-9FF8-AF3EF476CED1}" presName="linear" presStyleCnt="0">
        <dgm:presLayoutVars>
          <dgm:animLvl val="lvl"/>
          <dgm:resizeHandles val="exact"/>
        </dgm:presLayoutVars>
      </dgm:prSet>
      <dgm:spPr/>
    </dgm:pt>
    <dgm:pt modelId="{0EFBCD61-B7F5-4EDB-B80D-03D15C6769EA}" type="pres">
      <dgm:prSet presAssocID="{3EDF5489-967F-4B7E-BE56-9B43C619890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852D15B-0F0D-4955-A10D-A24C5F2982D4}" type="pres">
      <dgm:prSet presAssocID="{93ECD222-6F1A-462E-A7C8-2D13AC5BB114}" presName="spacer" presStyleCnt="0"/>
      <dgm:spPr/>
    </dgm:pt>
    <dgm:pt modelId="{25E27994-A4F2-45ED-9704-C33EE8E186FF}" type="pres">
      <dgm:prSet presAssocID="{4A21BF2C-8AEE-4A29-B8B0-92921F54D1B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7B3A5CE-2909-4605-B1B4-BA6688D9E3EB}" type="pres">
      <dgm:prSet presAssocID="{652D6ABE-3298-46A2-BF41-E718C4E128C4}" presName="spacer" presStyleCnt="0"/>
      <dgm:spPr/>
    </dgm:pt>
    <dgm:pt modelId="{E9DCCB1D-5AB8-4D5D-B511-B7E0AB7EA35B}" type="pres">
      <dgm:prSet presAssocID="{E556B617-024B-4BD3-985F-81CE30945A1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58DDD51-4097-42E4-98C7-71B5E00BA97D}" type="pres">
      <dgm:prSet presAssocID="{9B78C8A2-6AAA-47F2-A2C3-9C234ABBF72C}" presName="spacer" presStyleCnt="0"/>
      <dgm:spPr/>
    </dgm:pt>
    <dgm:pt modelId="{1AEE64B6-7780-4CE4-A600-0E6A1BF6F4E8}" type="pres">
      <dgm:prSet presAssocID="{33F3377B-D211-4500-B8A6-C1FA566BF65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5AE4030-D523-48B7-A051-3CC189CC1E2F}" srcId="{2B74DF41-DEC8-4AC8-9FF8-AF3EF476CED1}" destId="{4A21BF2C-8AEE-4A29-B8B0-92921F54D1BA}" srcOrd="1" destOrd="0" parTransId="{144E2EEC-94C6-4085-BED6-9C935CECF6B9}" sibTransId="{652D6ABE-3298-46A2-BF41-E718C4E128C4}"/>
    <dgm:cxn modelId="{4DD8F335-BDF3-4364-815D-7E51C5C384B7}" type="presOf" srcId="{4A21BF2C-8AEE-4A29-B8B0-92921F54D1BA}" destId="{25E27994-A4F2-45ED-9704-C33EE8E186FF}" srcOrd="0" destOrd="0" presId="urn:microsoft.com/office/officeart/2005/8/layout/vList2"/>
    <dgm:cxn modelId="{1E6D5576-50F9-48E9-B769-4C0559616144}" srcId="{2B74DF41-DEC8-4AC8-9FF8-AF3EF476CED1}" destId="{E556B617-024B-4BD3-985F-81CE30945A17}" srcOrd="2" destOrd="0" parTransId="{1881F2BE-607A-4B8A-A2CE-FBDF5C9C11DE}" sibTransId="{9B78C8A2-6AAA-47F2-A2C3-9C234ABBF72C}"/>
    <dgm:cxn modelId="{24D38078-4190-4F8C-9900-F519B6A35607}" type="presOf" srcId="{2B74DF41-DEC8-4AC8-9FF8-AF3EF476CED1}" destId="{4E6F39E4-5445-4C9D-AE25-AA05E554F553}" srcOrd="0" destOrd="0" presId="urn:microsoft.com/office/officeart/2005/8/layout/vList2"/>
    <dgm:cxn modelId="{881D5585-F9E1-4A7B-A5A9-4ACDBD66653B}" srcId="{2B74DF41-DEC8-4AC8-9FF8-AF3EF476CED1}" destId="{33F3377B-D211-4500-B8A6-C1FA566BF651}" srcOrd="3" destOrd="0" parTransId="{EE174FD0-788F-46C6-959B-E218447D104F}" sibTransId="{D9D8E59A-9D9E-4D6F-8CEA-D22D363F54C9}"/>
    <dgm:cxn modelId="{1BE867B2-188C-4556-8D6C-AF30A282C931}" type="presOf" srcId="{33F3377B-D211-4500-B8A6-C1FA566BF651}" destId="{1AEE64B6-7780-4CE4-A600-0E6A1BF6F4E8}" srcOrd="0" destOrd="0" presId="urn:microsoft.com/office/officeart/2005/8/layout/vList2"/>
    <dgm:cxn modelId="{51968ABA-0120-4392-8F04-D6E1BE89D088}" type="presOf" srcId="{3EDF5489-967F-4B7E-BE56-9B43C619890C}" destId="{0EFBCD61-B7F5-4EDB-B80D-03D15C6769EA}" srcOrd="0" destOrd="0" presId="urn:microsoft.com/office/officeart/2005/8/layout/vList2"/>
    <dgm:cxn modelId="{0DD89EC0-455E-47F5-BA50-05F26DD89424}" srcId="{2B74DF41-DEC8-4AC8-9FF8-AF3EF476CED1}" destId="{3EDF5489-967F-4B7E-BE56-9B43C619890C}" srcOrd="0" destOrd="0" parTransId="{287B3120-BBDD-46C8-8BA1-DEBE3D6DE465}" sibTransId="{93ECD222-6F1A-462E-A7C8-2D13AC5BB114}"/>
    <dgm:cxn modelId="{A00CD0D4-CAE2-445E-8367-A8A5836ECECA}" type="presOf" srcId="{E556B617-024B-4BD3-985F-81CE30945A17}" destId="{E9DCCB1D-5AB8-4D5D-B511-B7E0AB7EA35B}" srcOrd="0" destOrd="0" presId="urn:microsoft.com/office/officeart/2005/8/layout/vList2"/>
    <dgm:cxn modelId="{139E48F4-A774-4153-85C0-926871D86DD9}" type="presParOf" srcId="{4E6F39E4-5445-4C9D-AE25-AA05E554F553}" destId="{0EFBCD61-B7F5-4EDB-B80D-03D15C6769EA}" srcOrd="0" destOrd="0" presId="urn:microsoft.com/office/officeart/2005/8/layout/vList2"/>
    <dgm:cxn modelId="{ABA8E6AE-F06B-44A7-ACA5-F539067FDC64}" type="presParOf" srcId="{4E6F39E4-5445-4C9D-AE25-AA05E554F553}" destId="{1852D15B-0F0D-4955-A10D-A24C5F2982D4}" srcOrd="1" destOrd="0" presId="urn:microsoft.com/office/officeart/2005/8/layout/vList2"/>
    <dgm:cxn modelId="{42E2DAE1-32F1-4BFE-A0FD-B70B01FFB49B}" type="presParOf" srcId="{4E6F39E4-5445-4C9D-AE25-AA05E554F553}" destId="{25E27994-A4F2-45ED-9704-C33EE8E186FF}" srcOrd="2" destOrd="0" presId="urn:microsoft.com/office/officeart/2005/8/layout/vList2"/>
    <dgm:cxn modelId="{5AB58B56-7726-4663-8956-3D82B38EE59D}" type="presParOf" srcId="{4E6F39E4-5445-4C9D-AE25-AA05E554F553}" destId="{07B3A5CE-2909-4605-B1B4-BA6688D9E3EB}" srcOrd="3" destOrd="0" presId="urn:microsoft.com/office/officeart/2005/8/layout/vList2"/>
    <dgm:cxn modelId="{757AB23C-AD65-4628-8AB6-E32252C16DE8}" type="presParOf" srcId="{4E6F39E4-5445-4C9D-AE25-AA05E554F553}" destId="{E9DCCB1D-5AB8-4D5D-B511-B7E0AB7EA35B}" srcOrd="4" destOrd="0" presId="urn:microsoft.com/office/officeart/2005/8/layout/vList2"/>
    <dgm:cxn modelId="{11459611-42F5-4232-9D54-C2CFAA0F33B1}" type="presParOf" srcId="{4E6F39E4-5445-4C9D-AE25-AA05E554F553}" destId="{158DDD51-4097-42E4-98C7-71B5E00BA97D}" srcOrd="5" destOrd="0" presId="urn:microsoft.com/office/officeart/2005/8/layout/vList2"/>
    <dgm:cxn modelId="{160E1E9F-B3A7-4335-8D07-7B19900B4819}" type="presParOf" srcId="{4E6F39E4-5445-4C9D-AE25-AA05E554F553}" destId="{1AEE64B6-7780-4CE4-A600-0E6A1BF6F4E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B6DC0E-7A6A-44E0-9D4C-E9574DFB8E8D}">
      <dsp:nvSpPr>
        <dsp:cNvPr id="0" name=""/>
        <dsp:cNvSpPr/>
      </dsp:nvSpPr>
      <dsp:spPr>
        <a:xfrm>
          <a:off x="1568407" y="378"/>
          <a:ext cx="3055187" cy="183311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900" kern="1200" dirty="0"/>
            <a:t>Kampányígéretek</a:t>
          </a:r>
        </a:p>
      </dsp:txBody>
      <dsp:txXfrm>
        <a:off x="1568407" y="378"/>
        <a:ext cx="3055187" cy="1833112"/>
      </dsp:txXfrm>
    </dsp:sp>
    <dsp:sp modelId="{7F9A7245-9D79-40DA-BEC4-A2F8A5D30D41}">
      <dsp:nvSpPr>
        <dsp:cNvPr id="0" name=""/>
        <dsp:cNvSpPr/>
      </dsp:nvSpPr>
      <dsp:spPr>
        <a:xfrm>
          <a:off x="4929113" y="378"/>
          <a:ext cx="3055187" cy="1833112"/>
        </a:xfrm>
        <a:prstGeom prst="rect">
          <a:avLst/>
        </a:prstGeom>
        <a:solidFill>
          <a:schemeClr val="accent1">
            <a:shade val="80000"/>
            <a:hueOff val="181866"/>
            <a:satOff val="-18964"/>
            <a:lumOff val="1274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900" kern="1200" dirty="0"/>
            <a:t>Rövid távú befektetői reakciók</a:t>
          </a:r>
        </a:p>
      </dsp:txBody>
      <dsp:txXfrm>
        <a:off x="4929113" y="378"/>
        <a:ext cx="3055187" cy="1833112"/>
      </dsp:txXfrm>
    </dsp:sp>
    <dsp:sp modelId="{20FB07B8-DC29-4A9F-8946-219025D2ED8E}">
      <dsp:nvSpPr>
        <dsp:cNvPr id="0" name=""/>
        <dsp:cNvSpPr/>
      </dsp:nvSpPr>
      <dsp:spPr>
        <a:xfrm>
          <a:off x="1568407" y="2139010"/>
          <a:ext cx="3055187" cy="1833112"/>
        </a:xfrm>
        <a:prstGeom prst="rect">
          <a:avLst/>
        </a:prstGeom>
        <a:solidFill>
          <a:schemeClr val="accent1">
            <a:shade val="80000"/>
            <a:hueOff val="363732"/>
            <a:satOff val="-37928"/>
            <a:lumOff val="254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900" kern="1200" dirty="0"/>
            <a:t>Kiemelt szektorok</a:t>
          </a:r>
        </a:p>
      </dsp:txBody>
      <dsp:txXfrm>
        <a:off x="1568407" y="2139010"/>
        <a:ext cx="3055187" cy="1833112"/>
      </dsp:txXfrm>
    </dsp:sp>
    <dsp:sp modelId="{135858F0-F707-4549-AEDA-8D573B198B0C}">
      <dsp:nvSpPr>
        <dsp:cNvPr id="0" name=""/>
        <dsp:cNvSpPr/>
      </dsp:nvSpPr>
      <dsp:spPr>
        <a:xfrm>
          <a:off x="4929113" y="2139010"/>
          <a:ext cx="3055187" cy="1833112"/>
        </a:xfrm>
        <a:prstGeom prst="rect">
          <a:avLst/>
        </a:prstGeom>
        <a:solidFill>
          <a:schemeClr val="accent1">
            <a:shade val="80000"/>
            <a:hueOff val="545598"/>
            <a:satOff val="-56892"/>
            <a:lumOff val="382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900" kern="1200" dirty="0"/>
            <a:t>Kockázatok</a:t>
          </a:r>
        </a:p>
      </dsp:txBody>
      <dsp:txXfrm>
        <a:off x="4929113" y="2139010"/>
        <a:ext cx="3055187" cy="18331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AC4587-716C-4E7D-ADE6-3E900D64C15E}">
      <dsp:nvSpPr>
        <dsp:cNvPr id="0" name=""/>
        <dsp:cNvSpPr/>
      </dsp:nvSpPr>
      <dsp:spPr>
        <a:xfrm rot="10800000">
          <a:off x="2277436" y="2048"/>
          <a:ext cx="7607860" cy="1444684"/>
        </a:xfrm>
        <a:prstGeom prst="homePlate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066" tIns="133350" rIns="24892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500" kern="1200" dirty="0"/>
            <a:t>Szektorspecifikus hatás</a:t>
          </a:r>
        </a:p>
      </dsp:txBody>
      <dsp:txXfrm rot="10800000">
        <a:off x="2638607" y="2048"/>
        <a:ext cx="7246689" cy="1444684"/>
      </dsp:txXfrm>
    </dsp:sp>
    <dsp:sp modelId="{D9231D45-A7E0-4B2F-8860-F74C7BBA7D93}">
      <dsp:nvSpPr>
        <dsp:cNvPr id="0" name=""/>
        <dsp:cNvSpPr/>
      </dsp:nvSpPr>
      <dsp:spPr>
        <a:xfrm>
          <a:off x="1555094" y="2048"/>
          <a:ext cx="1444684" cy="1444684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l="-13000" r="-13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9BC85C-89FB-4C80-B98E-B531C4AED217}">
      <dsp:nvSpPr>
        <dsp:cNvPr id="0" name=""/>
        <dsp:cNvSpPr/>
      </dsp:nvSpPr>
      <dsp:spPr>
        <a:xfrm rot="10800000">
          <a:off x="2277436" y="1877982"/>
          <a:ext cx="7607860" cy="1444684"/>
        </a:xfrm>
        <a:prstGeom prst="homePlate">
          <a:avLst/>
        </a:prstGeom>
        <a:solidFill>
          <a:schemeClr val="accent1">
            <a:shade val="80000"/>
            <a:hueOff val="272799"/>
            <a:satOff val="-28446"/>
            <a:lumOff val="1911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066" tIns="133350" rIns="24892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500" kern="1200" dirty="0"/>
            <a:t>Időzítés és bizonytalanság</a:t>
          </a:r>
        </a:p>
      </dsp:txBody>
      <dsp:txXfrm rot="10800000">
        <a:off x="2638607" y="1877982"/>
        <a:ext cx="7246689" cy="1444684"/>
      </dsp:txXfrm>
    </dsp:sp>
    <dsp:sp modelId="{92F915FA-FD2C-4586-A725-A1A71C98A106}">
      <dsp:nvSpPr>
        <dsp:cNvPr id="0" name=""/>
        <dsp:cNvSpPr/>
      </dsp:nvSpPr>
      <dsp:spPr>
        <a:xfrm>
          <a:off x="1555094" y="1877982"/>
          <a:ext cx="1444684" cy="1444684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 l="-30000" r="-30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31255E-9BA0-4C9A-8EA9-9563EC5909EB}">
      <dsp:nvSpPr>
        <dsp:cNvPr id="0" name=""/>
        <dsp:cNvSpPr/>
      </dsp:nvSpPr>
      <dsp:spPr>
        <a:xfrm rot="10800000">
          <a:off x="2277436" y="3753915"/>
          <a:ext cx="7607860" cy="1444684"/>
        </a:xfrm>
        <a:prstGeom prst="homePlate">
          <a:avLst/>
        </a:prstGeom>
        <a:solidFill>
          <a:schemeClr val="accent1">
            <a:shade val="80000"/>
            <a:hueOff val="545598"/>
            <a:satOff val="-56892"/>
            <a:lumOff val="382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066" tIns="133350" rIns="24892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500" kern="1200" dirty="0"/>
            <a:t>Hosszabb távot már a fundamentumok határozzák meg</a:t>
          </a:r>
        </a:p>
      </dsp:txBody>
      <dsp:txXfrm rot="10800000">
        <a:off x="2638607" y="3753915"/>
        <a:ext cx="7246689" cy="1444684"/>
      </dsp:txXfrm>
    </dsp:sp>
    <dsp:sp modelId="{10105F34-DE59-4C65-B040-53AF1476062F}">
      <dsp:nvSpPr>
        <dsp:cNvPr id="0" name=""/>
        <dsp:cNvSpPr/>
      </dsp:nvSpPr>
      <dsp:spPr>
        <a:xfrm>
          <a:off x="1555094" y="3753915"/>
          <a:ext cx="1444684" cy="1444684"/>
        </a:xfrm>
        <a:prstGeom prst="ellipse">
          <a:avLst/>
        </a:prstGeom>
        <a:blipFill rotWithShape="1">
          <a:blip xmlns:r="http://schemas.openxmlformats.org/officeDocument/2006/relationships" r:embed="rId3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64C667-E322-4420-8B68-71F8BE300D04}">
      <dsp:nvSpPr>
        <dsp:cNvPr id="0" name=""/>
        <dsp:cNvSpPr/>
      </dsp:nvSpPr>
      <dsp:spPr>
        <a:xfrm>
          <a:off x="0" y="506528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687324" rIns="816127" bIns="234696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hu-HU" sz="3300" kern="1200" dirty="0"/>
        </a:p>
      </dsp:txBody>
      <dsp:txXfrm>
        <a:off x="0" y="506528"/>
        <a:ext cx="10515600" cy="831600"/>
      </dsp:txXfrm>
    </dsp:sp>
    <dsp:sp modelId="{7A0BACB8-CB7E-4E50-840E-E6A5FD94E2E6}">
      <dsp:nvSpPr>
        <dsp:cNvPr id="0" name=""/>
        <dsp:cNvSpPr/>
      </dsp:nvSpPr>
      <dsp:spPr>
        <a:xfrm>
          <a:off x="525780" y="19448"/>
          <a:ext cx="7360920" cy="974160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300" kern="1200" dirty="0"/>
            <a:t>Megismételt 2016</a:t>
          </a:r>
        </a:p>
      </dsp:txBody>
      <dsp:txXfrm>
        <a:off x="573335" y="67003"/>
        <a:ext cx="7265810" cy="879050"/>
      </dsp:txXfrm>
    </dsp:sp>
    <dsp:sp modelId="{DE007E19-14D0-4C5F-AE0F-BBA7918DC2AC}">
      <dsp:nvSpPr>
        <dsp:cNvPr id="0" name=""/>
        <dsp:cNvSpPr/>
      </dsp:nvSpPr>
      <dsp:spPr>
        <a:xfrm>
          <a:off x="0" y="200340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272799"/>
              <a:satOff val="-28446"/>
              <a:lumOff val="191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B00693-A811-4B08-80CB-C227D1A3FE48}">
      <dsp:nvSpPr>
        <dsp:cNvPr id="0" name=""/>
        <dsp:cNvSpPr/>
      </dsp:nvSpPr>
      <dsp:spPr>
        <a:xfrm>
          <a:off x="525780" y="1516329"/>
          <a:ext cx="7360920" cy="974160"/>
        </a:xfrm>
        <a:prstGeom prst="roundRect">
          <a:avLst/>
        </a:prstGeom>
        <a:solidFill>
          <a:schemeClr val="accent1">
            <a:shade val="80000"/>
            <a:hueOff val="272799"/>
            <a:satOff val="-28446"/>
            <a:lumOff val="1911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300" kern="1200" dirty="0"/>
            <a:t>Felfokozott bizonytalanság</a:t>
          </a:r>
        </a:p>
      </dsp:txBody>
      <dsp:txXfrm>
        <a:off x="573335" y="1563884"/>
        <a:ext cx="7265810" cy="879050"/>
      </dsp:txXfrm>
    </dsp:sp>
    <dsp:sp modelId="{4E8D9C58-CF34-4DC8-89CF-23CABB58F67C}">
      <dsp:nvSpPr>
        <dsp:cNvPr id="0" name=""/>
        <dsp:cNvSpPr/>
      </dsp:nvSpPr>
      <dsp:spPr>
        <a:xfrm>
          <a:off x="0" y="350028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545598"/>
              <a:satOff val="-56892"/>
              <a:lumOff val="382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4A28F6-63E2-4637-8D43-4112BC5EC279}">
      <dsp:nvSpPr>
        <dsp:cNvPr id="0" name=""/>
        <dsp:cNvSpPr/>
      </dsp:nvSpPr>
      <dsp:spPr>
        <a:xfrm>
          <a:off x="525780" y="3013209"/>
          <a:ext cx="7360920" cy="974160"/>
        </a:xfrm>
        <a:prstGeom prst="roundRect">
          <a:avLst/>
        </a:prstGeom>
        <a:solidFill>
          <a:schemeClr val="accent1">
            <a:shade val="80000"/>
            <a:hueOff val="545598"/>
            <a:satOff val="-56892"/>
            <a:lumOff val="382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300" kern="1200" dirty="0"/>
            <a:t>Globális „sokkhullám”</a:t>
          </a:r>
        </a:p>
      </dsp:txBody>
      <dsp:txXfrm>
        <a:off x="573335" y="3060764"/>
        <a:ext cx="7265810" cy="8790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FBCD61-B7F5-4EDB-B80D-03D15C6769EA}">
      <dsp:nvSpPr>
        <dsp:cNvPr id="0" name=""/>
        <dsp:cNvSpPr/>
      </dsp:nvSpPr>
      <dsp:spPr>
        <a:xfrm>
          <a:off x="0" y="86907"/>
          <a:ext cx="5156200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/>
            <a:t>Kutatási kérdés: Hogyan hat az orosz-ukrán konfliktus a kiválasztott részvénypiacokra?</a:t>
          </a:r>
          <a:endParaRPr lang="en-US" sz="1900" kern="1200"/>
        </a:p>
      </dsp:txBody>
      <dsp:txXfrm>
        <a:off x="51885" y="138792"/>
        <a:ext cx="5052430" cy="959101"/>
      </dsp:txXfrm>
    </dsp:sp>
    <dsp:sp modelId="{25E27994-A4F2-45ED-9704-C33EE8E186FF}">
      <dsp:nvSpPr>
        <dsp:cNvPr id="0" name=""/>
        <dsp:cNvSpPr/>
      </dsp:nvSpPr>
      <dsp:spPr>
        <a:xfrm>
          <a:off x="0" y="1204499"/>
          <a:ext cx="5156200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/>
            <a:t>Kiválasztott országok: G20-as országok, illetve akinek jelentős kereskedelmi kapcsolata volt Oroszországgal </a:t>
          </a:r>
          <a:endParaRPr lang="en-US" sz="1900" kern="1200"/>
        </a:p>
      </dsp:txBody>
      <dsp:txXfrm>
        <a:off x="51885" y="1256384"/>
        <a:ext cx="5052430" cy="959101"/>
      </dsp:txXfrm>
    </dsp:sp>
    <dsp:sp modelId="{E9DCCB1D-5AB8-4D5D-B511-B7E0AB7EA35B}">
      <dsp:nvSpPr>
        <dsp:cNvPr id="0" name=""/>
        <dsp:cNvSpPr/>
      </dsp:nvSpPr>
      <dsp:spPr>
        <a:xfrm>
          <a:off x="0" y="2322091"/>
          <a:ext cx="5156200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/>
            <a:t>Napi árfolyamadatokból +- 5napos eseményidőszak 120 napos becslési időszak</a:t>
          </a:r>
          <a:endParaRPr lang="en-US" sz="1900" kern="1200"/>
        </a:p>
      </dsp:txBody>
      <dsp:txXfrm>
        <a:off x="51885" y="2373976"/>
        <a:ext cx="5052430" cy="959101"/>
      </dsp:txXfrm>
    </dsp:sp>
    <dsp:sp modelId="{1AEE64B6-7780-4CE4-A600-0E6A1BF6F4E8}">
      <dsp:nvSpPr>
        <dsp:cNvPr id="0" name=""/>
        <dsp:cNvSpPr/>
      </dsp:nvSpPr>
      <dsp:spPr>
        <a:xfrm>
          <a:off x="0" y="3439683"/>
          <a:ext cx="5156200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/>
            <a:t>Csak kereskedési napok</a:t>
          </a:r>
          <a:endParaRPr lang="en-US" sz="1900" kern="1200"/>
        </a:p>
      </dsp:txBody>
      <dsp:txXfrm>
        <a:off x="51885" y="3491568"/>
        <a:ext cx="5052430" cy="9591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29DEE9-2125-4A1C-BA3F-87E4690EAC05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0B4DA-D8B0-40F2-B24F-04447AB7D21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6353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0B4DA-D8B0-40F2-B24F-04447AB7D21D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4111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hu-HU" dirty="0"/>
              <a:t>Adócsökkentések, dereguláció és protekcionista </a:t>
            </a:r>
            <a:r>
              <a:rPr lang="hu-HU" dirty="0" err="1"/>
              <a:t>kerpolitika</a:t>
            </a:r>
            <a:r>
              <a:rPr lang="hu-HU" dirty="0"/>
              <a:t> -&gt; potenciális nyertesek: energia, </a:t>
            </a:r>
            <a:r>
              <a:rPr lang="hu-HU" dirty="0" err="1"/>
              <a:t>pü</a:t>
            </a:r>
            <a:r>
              <a:rPr lang="hu-HU" dirty="0"/>
              <a:t>-i, hadiipar; vesztesek: megújuló energia, autóipar, exportra támaszkodók</a:t>
            </a:r>
          </a:p>
          <a:p>
            <a:pPr marL="171450" indent="-171450">
              <a:buFontTx/>
              <a:buChar char="-"/>
            </a:pPr>
            <a:r>
              <a:rPr lang="hu-HU" dirty="0"/>
              <a:t>Gyorsan beárazódott a lehetséges adócsökkentés és dereguláció</a:t>
            </a:r>
          </a:p>
          <a:p>
            <a:pPr marL="171450" indent="-171450">
              <a:buFontTx/>
              <a:buChar char="-"/>
            </a:pPr>
            <a:r>
              <a:rPr lang="hu-HU" dirty="0"/>
              <a:t>Vámok hatása, volatilitás emelkedés, fiskális stimuláció, inflációs veszélyek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0B4DA-D8B0-40F2-B24F-04447AB7D21D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62552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hu-HU" dirty="0"/>
              <a:t>Nem egységes a teljes piaci indexre a rövid távú reakció. A valódi történések a szektorok szintjén vannak</a:t>
            </a:r>
          </a:p>
          <a:p>
            <a:pPr marL="628650" lvl="1" indent="-171450">
              <a:buFontTx/>
              <a:buChar char="-"/>
            </a:pPr>
            <a:r>
              <a:rPr lang="hu-HU" dirty="0"/>
              <a:t>A kampány alatt elkezdenek a várakozások </a:t>
            </a:r>
            <a:r>
              <a:rPr lang="hu-HU" dirty="0" err="1"/>
              <a:t>beárazódni</a:t>
            </a:r>
            <a:endParaRPr lang="hu-HU" dirty="0"/>
          </a:p>
          <a:p>
            <a:pPr marL="628650" lvl="1" indent="-171450">
              <a:buFontTx/>
              <a:buChar char="-"/>
            </a:pPr>
            <a:r>
              <a:rPr lang="hu-HU" dirty="0"/>
              <a:t>Az eredmény csökkenti a bizonytalanságot</a:t>
            </a:r>
          </a:p>
          <a:p>
            <a:pPr marL="628650" lvl="1" indent="-171450">
              <a:buFontTx/>
              <a:buChar char="-"/>
            </a:pPr>
            <a:r>
              <a:rPr lang="hu-HU" dirty="0"/>
              <a:t>Lehetséges a túlreagálás és azt követően egy gyors korrekció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hu-HU" dirty="0"/>
              <a:t>- A választás utáni piaci pálya végül a reálgazdasági következményektől és a Globális reakcióktól függ</a:t>
            </a:r>
          </a:p>
          <a:p>
            <a:pPr marL="628650" lvl="1" indent="-171450">
              <a:buFontTx/>
              <a:buChar char="-"/>
            </a:pP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0B4DA-D8B0-40F2-B24F-04447AB7D21D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92453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hu-HU" dirty="0"/>
              <a:t>Rövid volatilitást követően </a:t>
            </a:r>
            <a:r>
              <a:rPr lang="hu-HU" dirty="0" err="1"/>
              <a:t>szektoriális</a:t>
            </a:r>
            <a:r>
              <a:rPr lang="hu-HU" dirty="0"/>
              <a:t> széttagolódás és a bizonytalanság csökkenésével és a gazdasági várakozások alakulásával középtávú trend kialakulása</a:t>
            </a:r>
          </a:p>
          <a:p>
            <a:pPr marL="171450" indent="-171450">
              <a:buFontTx/>
              <a:buChar char="-"/>
            </a:pPr>
            <a:r>
              <a:rPr lang="hu-HU" dirty="0"/>
              <a:t>Vitatott eredmény vagy politikai polarizáció erősödését követően megnő a magas volatilitás időszaka, valamint megnő a kockázati prémium</a:t>
            </a:r>
          </a:p>
          <a:p>
            <a:pPr marL="171450" indent="-171450">
              <a:buFontTx/>
              <a:buChar char="-"/>
            </a:pPr>
            <a:r>
              <a:rPr lang="hu-HU" dirty="0"/>
              <a:t>Hirtelen bejelentett szélsőséges kereskedelmi intézkedéseket követően globális kockázatkerülés, ezzel együtt rövid távon minden kockázatos eszköz </a:t>
            </a:r>
            <a:r>
              <a:rPr lang="hu-HU" dirty="0" err="1"/>
              <a:t>leértékelődne</a:t>
            </a:r>
            <a:r>
              <a:rPr lang="hu-HU" dirty="0"/>
              <a:t> mielőtt a </a:t>
            </a:r>
            <a:r>
              <a:rPr lang="hu-HU" dirty="0" err="1"/>
              <a:t>szektoriális</a:t>
            </a:r>
            <a:r>
              <a:rPr lang="hu-HU" dirty="0"/>
              <a:t> különbségek újra dominálnak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0B4DA-D8B0-40F2-B24F-04447AB7D21D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96673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hu-HU" dirty="0"/>
              <a:t>Alapvetően a kutatás célja, hogy az orosz-ukrán háború kitörésére hogyan reagáltak a G20 és néhány az eseményhez kapcsolódó ország részvénypiaca.</a:t>
            </a:r>
          </a:p>
          <a:p>
            <a:pPr marL="171450" indent="-171450">
              <a:buFontTx/>
              <a:buChar char="-"/>
            </a:pPr>
            <a:r>
              <a:rPr lang="hu-HU" dirty="0"/>
              <a:t>A szerzők eseményelemzésen keresztül vizsgálták a részvénypiaci hozamok alakulását a február 24-i nap közvetlen környezetében.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0B4DA-D8B0-40F2-B24F-04447AB7D21D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52755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hu-HU" dirty="0"/>
              <a:t>Az eredmények alapján jellemzően szignifikánsan negatív hatást gyakorolt a háború kitörése a részvénypiacokra, kifejezetten az oroszra.</a:t>
            </a:r>
          </a:p>
          <a:p>
            <a:pPr marL="171450" indent="-171450">
              <a:buFontTx/>
              <a:buChar char="-"/>
            </a:pPr>
            <a:r>
              <a:rPr lang="hu-HU" dirty="0"/>
              <a:t>Regionális szinteken vizsgálva elmondható, hogy az európai és ázsiai tőzsdék reagáltak nagyobb veszteségekkel az eseményre, míg az észak-amerikai és latin-amerikai tőzsdéken  nem volt meghatározó hatása az orosz-ukrán háború kitörésének. USA tőzsdéje az európaiakkal ellentétben emelkedni kezdett.</a:t>
            </a:r>
          </a:p>
          <a:p>
            <a:pPr marL="171450" indent="-171450">
              <a:buFontTx/>
              <a:buChar char="-"/>
            </a:pPr>
            <a:r>
              <a:rPr lang="hu-HU" dirty="0"/>
              <a:t>Ezek alapján a geopolitikai kockázatok az esemény gócpontjának relatíve közeli és kereskedelmileg összekapcsolt országcsoportok pénzpiacaira gyorsan átgyűrűző hatásai vannak.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0B4DA-D8B0-40F2-B24F-04447AB7D21D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557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0B4DA-D8B0-40F2-B24F-04447AB7D21D}" type="slidenum">
              <a:rPr lang="hu-HU" smtClean="0"/>
              <a:t>21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7405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0CD66E3-81FC-A215-ADEA-7F0C20646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D47E7FD-C50A-73EA-FC3C-63FDEE215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23FDF10-C9BA-10CA-0B50-F5FAD89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7E8D-8806-4027-9858-75EF39DA3D6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8A97DDC-54A1-AD31-7BE6-78079A30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8E9CD08-EAD1-5399-B5C0-21F90542E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8D22-D207-4DDC-8E89-DEAB2254D5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67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07B6595-05C3-9A34-484E-8276784AF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A72546C-456F-1F4A-B0FC-4E82518BF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6B9F0E8-FDB2-38D0-9A9B-F849FB70E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7E8D-8806-4027-9858-75EF39DA3D6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F40776B-2C6A-C63C-1017-469459D4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D02E5CA-1D15-BB60-2490-59965A9A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8D22-D207-4DDC-8E89-DEAB2254D5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13182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A26DEFC-A0AB-F204-1F53-B6C2FB8F0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AD2D7FD-3C7C-2B47-F453-6917A5C90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BC3CB7F-03A6-B251-C575-DF854CD3B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7E8D-8806-4027-9858-75EF39DA3D6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2E9BC7B-8A76-5281-8AA8-F3E08813A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87E226B-7188-6924-299F-759137006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8D22-D207-4DDC-8E89-DEAB2254D5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51114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3D2AD80-2767-1303-55CB-04AA44EDB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3333853-63BA-6F3D-E164-D49BF2A26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820B682-E3E3-1945-9E46-01462D72F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9508E05-A6D4-9F62-BA32-CC1CB11F6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7E8D-8806-4027-9858-75EF39DA3D6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224FD8B-F828-2815-1DC5-DABA2DBE0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DDC6436-7B64-68E1-6C40-96D5EC9BA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8D22-D207-4DDC-8E89-DEAB2254D5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20290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D8362DB-ADA6-D508-8C65-AC87A8015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91229B0-6F79-0DB5-26D4-BF3D62D0C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59BECFF-066E-9BA1-3E52-F33E46B77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75E24CC1-8283-371C-6D6A-E200C93F45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62E5B592-9545-02F0-CE06-E1289C4821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C7F6A315-F829-667D-05DF-BF246C401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7E8D-8806-4027-9858-75EF39DA3D6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75BE13DF-BD1D-8415-D2ED-55C649625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F94A6D95-1543-7114-8579-CACC1B0E8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8D22-D207-4DDC-8E89-DEAB2254D5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88498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EB534A-0A9C-B7EA-257A-EA4944D8E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283AE4A1-ADA0-E7EA-5258-DD19845C3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7E8D-8806-4027-9858-75EF39DA3D6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F423B807-F24A-8737-B5F8-15B17E91E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BA55DE5-24E1-AEAD-CC6A-ACB6CF268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8D22-D207-4DDC-8E89-DEAB2254D5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8711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6828E326-7BB1-E153-CDE8-9F57F1C0B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7E8D-8806-4027-9858-75EF39DA3D6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450DE9B1-4B41-0199-3623-E643D94C6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38A25A0-F068-BADE-1F4D-DBE3B164D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8D22-D207-4DDC-8E89-DEAB2254D5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1064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20A993-CDD6-D8ED-5FF1-FC16D77F4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9301533-49A6-BEDC-529A-C66DCE908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781295F-D575-70D0-A8B8-2CFBA0E95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BDFD8AC-579D-877C-9E1D-77DE26BB3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7E8D-8806-4027-9858-75EF39DA3D6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510EF96-355A-50D8-AD20-978AAF6B1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40EDC88-756A-D92C-0541-93502967C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8D22-D207-4DDC-8E89-DEAB2254D5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9565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19441C-3446-4183-A4CE-66C575549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5AB326F2-FBB8-5C6C-C471-7A583D5F9B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1C84B48-A09D-B094-69CC-934D543E04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91B2486-C531-0684-AA1E-AABBD08FC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7E8D-8806-4027-9858-75EF39DA3D6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21BF98C-C51C-E67B-671B-A4C8816CD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8120A49-0F79-1CCA-6E06-7A17E8B97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8D22-D207-4DDC-8E89-DEAB2254D5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9756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1239BCA-F032-DE11-2761-6F6C22B74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BCC7E23-7E66-1F92-DC76-4CD81F90C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6B879D0-1144-B41A-ABEF-EEA385692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7E8D-8806-4027-9858-75EF39DA3D6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233759A-795A-D3D9-B1CA-CFE02F2AE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73146EE-7F7F-4454-78F1-E5385BC00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8D22-D207-4DDC-8E89-DEAB2254D5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80456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E13337B2-298D-2E81-A55F-750BCDE47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DAE22C1-72A0-77A8-D2D3-C5753575BB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1AD925B-37DD-F125-F044-4D8F81A4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7E8D-8806-4027-9858-75EF39DA3D6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43A421D-9FC0-8206-842D-F689F434B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EB30776-923C-70A1-3271-F7FCB8871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8D22-D207-4DDC-8E89-DEAB2254D5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35734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3C00F9B1-68AE-7D52-5D67-9031ABE1C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FAC842B-B159-D60C-4023-75B9470FD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6FBDF07-4F1C-0F58-4253-AF1B61B12A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ED7E8D-8806-4027-9858-75EF39DA3D6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01979E4-73AB-C087-DE5C-1EC7B7BCE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A90F5D6-EB52-EC13-5849-6BD79DB39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B38D22-D207-4DDC-8E89-DEAB2254D5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59164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9DEFC8-C1E3-2A9E-412F-017A3E2D2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56991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A 2024-es amerikai elnökválasztás hatása egyes részvények áraira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D7C339D-3E82-2DFB-121B-D09FB91D6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9188" y="4516436"/>
            <a:ext cx="3653624" cy="2133745"/>
          </a:xfrm>
        </p:spPr>
        <p:txBody>
          <a:bodyPr>
            <a:normAutofit lnSpcReduction="10000"/>
          </a:bodyPr>
          <a:lstStyle/>
          <a:p>
            <a:r>
              <a:rPr lang="hu-HU" dirty="0"/>
              <a:t>Készítette:</a:t>
            </a:r>
          </a:p>
          <a:p>
            <a:r>
              <a:rPr lang="hu-HU" dirty="0" err="1"/>
              <a:t>Klimkó</a:t>
            </a:r>
            <a:r>
              <a:rPr lang="hu-HU" dirty="0"/>
              <a:t> Mátyás</a:t>
            </a:r>
          </a:p>
          <a:p>
            <a:r>
              <a:rPr lang="hu-HU" dirty="0"/>
              <a:t>Őrsi Marcell</a:t>
            </a:r>
          </a:p>
          <a:p>
            <a:r>
              <a:rPr lang="hu-HU" dirty="0"/>
              <a:t>Szőcs Norbert</a:t>
            </a:r>
          </a:p>
          <a:p>
            <a:r>
              <a:rPr lang="hu-HU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093935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5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E4C8EE6-2E3E-8A7C-995F-C94D63541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18" y="442127"/>
            <a:ext cx="5832764" cy="1325563"/>
          </a:xfrm>
        </p:spPr>
        <p:txBody>
          <a:bodyPr/>
          <a:lstStyle/>
          <a:p>
            <a:pPr algn="ctr"/>
            <a:r>
              <a:rPr lang="hu-HU" sz="4800" dirty="0"/>
              <a:t>Tartalom</a:t>
            </a:r>
            <a:endParaRPr lang="hu-HU" dirty="0"/>
          </a:p>
        </p:txBody>
      </p:sp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FEB0786E-ED2C-91C1-C72B-B022DA8EC557}"/>
              </a:ext>
            </a:extLst>
          </p:cNvPr>
          <p:cNvGrpSpPr/>
          <p:nvPr/>
        </p:nvGrpSpPr>
        <p:grpSpPr>
          <a:xfrm>
            <a:off x="5202383" y="2158863"/>
            <a:ext cx="2788226" cy="4522492"/>
            <a:chOff x="884904" y="1515948"/>
            <a:chExt cx="5211096" cy="4724394"/>
          </a:xfrm>
          <a:noFill/>
        </p:grpSpPr>
        <p:sp>
          <p:nvSpPr>
            <p:cNvPr id="5" name="Téglalap: lekerekített 4">
              <a:extLst>
                <a:ext uri="{FF2B5EF4-FFF2-40B4-BE49-F238E27FC236}">
                  <a16:creationId xmlns:a16="http://schemas.microsoft.com/office/drawing/2014/main" id="{E14B9A72-85CA-E9A3-2EB8-276DD927028E}"/>
                </a:ext>
              </a:extLst>
            </p:cNvPr>
            <p:cNvSpPr/>
            <p:nvPr/>
          </p:nvSpPr>
          <p:spPr>
            <a:xfrm>
              <a:off x="884904" y="1515948"/>
              <a:ext cx="5211096" cy="845574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hu-HU" sz="2800" dirty="0">
                  <a:solidFill>
                    <a:schemeClr val="tx1"/>
                  </a:solidFill>
                </a:rPr>
                <a:t>Kutatási kérdés</a:t>
              </a:r>
            </a:p>
          </p:txBody>
        </p:sp>
        <p:sp>
          <p:nvSpPr>
            <p:cNvPr id="6" name="Téglalap: lekerekített 5">
              <a:extLst>
                <a:ext uri="{FF2B5EF4-FFF2-40B4-BE49-F238E27FC236}">
                  <a16:creationId xmlns:a16="http://schemas.microsoft.com/office/drawing/2014/main" id="{A4B974DE-C886-0D6B-CAD6-19CDCD2FA525}"/>
                </a:ext>
              </a:extLst>
            </p:cNvPr>
            <p:cNvSpPr/>
            <p:nvPr/>
          </p:nvSpPr>
          <p:spPr>
            <a:xfrm>
              <a:off x="884904" y="2485653"/>
              <a:ext cx="5211096" cy="845574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hu-HU" sz="2800" dirty="0">
                  <a:solidFill>
                    <a:schemeClr val="tx1"/>
                  </a:solidFill>
                </a:rPr>
                <a:t>Szakirodalom</a:t>
              </a:r>
            </a:p>
          </p:txBody>
        </p:sp>
        <p:sp>
          <p:nvSpPr>
            <p:cNvPr id="7" name="Téglalap: lekerekített 6">
              <a:extLst>
                <a:ext uri="{FF2B5EF4-FFF2-40B4-BE49-F238E27FC236}">
                  <a16:creationId xmlns:a16="http://schemas.microsoft.com/office/drawing/2014/main" id="{83C1B116-2489-4BF4-A77E-F0C16CFC74E9}"/>
                </a:ext>
              </a:extLst>
            </p:cNvPr>
            <p:cNvSpPr/>
            <p:nvPr/>
          </p:nvSpPr>
          <p:spPr>
            <a:xfrm>
              <a:off x="884904" y="3455358"/>
              <a:ext cx="5211096" cy="845574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hu-HU" sz="2800" dirty="0">
                  <a:solidFill>
                    <a:schemeClr val="tx1"/>
                  </a:solidFill>
                </a:rPr>
                <a:t>Adatok</a:t>
              </a:r>
            </a:p>
          </p:txBody>
        </p:sp>
        <p:sp>
          <p:nvSpPr>
            <p:cNvPr id="8" name="Téglalap: lekerekített 7">
              <a:extLst>
                <a:ext uri="{FF2B5EF4-FFF2-40B4-BE49-F238E27FC236}">
                  <a16:creationId xmlns:a16="http://schemas.microsoft.com/office/drawing/2014/main" id="{0A1B38F7-8213-DC8F-293D-D3D1159E6184}"/>
                </a:ext>
              </a:extLst>
            </p:cNvPr>
            <p:cNvSpPr/>
            <p:nvPr/>
          </p:nvSpPr>
          <p:spPr>
            <a:xfrm>
              <a:off x="884904" y="4425063"/>
              <a:ext cx="5211096" cy="845574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hu-HU" sz="2800" dirty="0">
                  <a:solidFill>
                    <a:schemeClr val="tx1"/>
                  </a:solidFill>
                </a:rPr>
                <a:t>Eredmények</a:t>
              </a:r>
            </a:p>
          </p:txBody>
        </p:sp>
        <p:sp>
          <p:nvSpPr>
            <p:cNvPr id="9" name="Téglalap: lekerekített 8">
              <a:extLst>
                <a:ext uri="{FF2B5EF4-FFF2-40B4-BE49-F238E27FC236}">
                  <a16:creationId xmlns:a16="http://schemas.microsoft.com/office/drawing/2014/main" id="{F5BC2987-76EA-D60B-2DD1-22F58D1AFDC2}"/>
                </a:ext>
              </a:extLst>
            </p:cNvPr>
            <p:cNvSpPr/>
            <p:nvPr/>
          </p:nvSpPr>
          <p:spPr>
            <a:xfrm>
              <a:off x="884904" y="5394768"/>
              <a:ext cx="5211096" cy="845574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hu-HU" sz="2800" dirty="0">
                  <a:solidFill>
                    <a:schemeClr val="tx1"/>
                  </a:solidFill>
                </a:rPr>
                <a:t>Következtetések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1521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C84CFC-F1B9-831C-172C-B68A0F3F2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7814D7-B902-81F3-0E12-50B9A94B2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1195" y="384607"/>
            <a:ext cx="7609610" cy="1298720"/>
          </a:xfrm>
        </p:spPr>
        <p:txBody>
          <a:bodyPr>
            <a:normAutofit/>
          </a:bodyPr>
          <a:lstStyle/>
          <a:p>
            <a:r>
              <a:rPr lang="hu-HU" sz="5400" b="1" dirty="0">
                <a:solidFill>
                  <a:schemeClr val="bg1"/>
                </a:solidFill>
              </a:rPr>
              <a:t>Kutatási kérdés</a:t>
            </a:r>
            <a:endParaRPr lang="en-US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110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5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CDDE00-03AD-E5BF-8D5F-764C960F6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58791" cy="1775402"/>
          </a:xfrm>
        </p:spPr>
        <p:txBody>
          <a:bodyPr>
            <a:normAutofit fontScale="90000"/>
          </a:bodyPr>
          <a:lstStyle/>
          <a:p>
            <a:r>
              <a:rPr lang="hu-HU" dirty="0"/>
              <a:t>Milyen hatással volt </a:t>
            </a:r>
            <a:r>
              <a:rPr lang="hu-HU" dirty="0" err="1"/>
              <a:t>Trump</a:t>
            </a:r>
            <a:r>
              <a:rPr lang="hu-HU" dirty="0"/>
              <a:t> 2024-es megválasztása egyes amerikai részvényekre?</a:t>
            </a:r>
          </a:p>
        </p:txBody>
      </p:sp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E4FAB272-1C57-5C57-5381-45C8ECDD5F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8855971"/>
              </p:ext>
            </p:extLst>
          </p:nvPr>
        </p:nvGraphicFramePr>
        <p:xfrm>
          <a:off x="-1188028" y="2376344"/>
          <a:ext cx="9552709" cy="39725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07964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C84CFC-F1B9-831C-172C-B68A0F3F2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7814D7-B902-81F3-0E12-50B9A94B2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19790"/>
            <a:ext cx="6373091" cy="1922174"/>
          </a:xfrm>
        </p:spPr>
        <p:txBody>
          <a:bodyPr>
            <a:normAutofit/>
          </a:bodyPr>
          <a:lstStyle/>
          <a:p>
            <a:r>
              <a:rPr lang="hu-HU" sz="5400" b="1" dirty="0"/>
              <a:t>Vonatkozó szakirodalom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1584594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4E2D9F-CF44-3CD4-9417-F5E483BD2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336"/>
            <a:ext cx="10515600" cy="1325563"/>
          </a:xfrm>
        </p:spPr>
        <p:txBody>
          <a:bodyPr/>
          <a:lstStyle/>
          <a:p>
            <a:r>
              <a:rPr lang="hu-HU" dirty="0">
                <a:solidFill>
                  <a:schemeClr val="accent1"/>
                </a:solidFill>
              </a:rPr>
              <a:t>3 fő következtetés</a:t>
            </a:r>
          </a:p>
        </p:txBody>
      </p:sp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55BFEB84-D43F-1EA0-8F11-C5A81C6D14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6958909"/>
              </p:ext>
            </p:extLst>
          </p:nvPr>
        </p:nvGraphicFramePr>
        <p:xfrm>
          <a:off x="375804" y="1330036"/>
          <a:ext cx="11440391" cy="52006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23959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C8ACE4-62B0-274B-72DC-3F96E4F3E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accent1"/>
                </a:solidFill>
              </a:rPr>
              <a:t>Lehetséges kimenetelek</a:t>
            </a:r>
          </a:p>
        </p:txBody>
      </p:sp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80B07F11-4D29-AA70-2500-E695D70672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713603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42052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0B4C1A-A5F7-7FB4-DDD1-523A46B73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8E50CFD-E4E8-E522-7E72-A925A926E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36357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E05250-EBBE-3623-E993-4C4B947CD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6FE175F-CFB2-2C39-A7BF-CC2DAA756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4626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2E5351-D831-1AEB-B129-12ACB5E4C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Eredeti tanulmány</a:t>
            </a:r>
          </a:p>
        </p:txBody>
      </p:sp>
      <p:graphicFrame>
        <p:nvGraphicFramePr>
          <p:cNvPr id="8" name="Tartalom helye 2">
            <a:extLst>
              <a:ext uri="{FF2B5EF4-FFF2-40B4-BE49-F238E27FC236}">
                <a16:creationId xmlns:a16="http://schemas.microsoft.com/office/drawing/2014/main" id="{69897FE5-847E-59A0-D74C-7492464E38C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587500"/>
          <a:ext cx="5156200" cy="4589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Kép 4" descr="A képen szöveg, elektronika, képernyőkép, Webhely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3D92E880-EFB7-152F-E62E-2656612DAB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1429497"/>
            <a:ext cx="5908902" cy="445135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3A410E59-54E4-D2C7-BB90-5F7FFDBE2AC5}"/>
              </a:ext>
            </a:extLst>
          </p:cNvPr>
          <p:cNvSpPr txBox="1"/>
          <p:nvPr/>
        </p:nvSpPr>
        <p:spPr>
          <a:xfrm>
            <a:off x="779208" y="6308209"/>
            <a:ext cx="9384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Forrás: https://www.sciencedirect.com/science/article/pii/S2214635022000570</a:t>
            </a:r>
          </a:p>
        </p:txBody>
      </p:sp>
    </p:spTree>
    <p:extLst>
      <p:ext uri="{BB962C8B-B14F-4D97-AF65-F5344CB8AC3E}">
        <p14:creationId xmlns:p14="http://schemas.microsoft.com/office/powerpoint/2010/main" val="3637483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FB3444E-7C21-A527-D4CF-C73C68A4F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Eredeti tanulmány eredményei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FE67AF-CE73-F3A3-26DC-172E61BA6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Legtöbb helyen szignifikáns negatív hozam</a:t>
            </a:r>
          </a:p>
          <a:p>
            <a:r>
              <a:rPr lang="en-US" sz="2200"/>
              <a:t>Legnagyobb veszteség oroszországban</a:t>
            </a:r>
          </a:p>
          <a:p>
            <a:r>
              <a:rPr lang="en-US" sz="2200"/>
              <a:t>Észak-amerikai országokban pozitív hozam</a:t>
            </a:r>
          </a:p>
          <a:p>
            <a:r>
              <a:rPr lang="en-US" sz="2200"/>
              <a:t>Ukrán tőzsdét bezárták</a:t>
            </a:r>
          </a:p>
          <a:p>
            <a:endParaRPr lang="en-US" sz="2200"/>
          </a:p>
          <a:p>
            <a:pPr marL="0"/>
            <a:endParaRPr lang="en-US" sz="2200"/>
          </a:p>
        </p:txBody>
      </p:sp>
      <p:pic>
        <p:nvPicPr>
          <p:cNvPr id="8" name="Tartalom helye 7" descr="A képen szöveg, képernyőkép, szám, menü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2F17EB4-2E3E-DD9C-35EC-A42063A6E3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199" y="640080"/>
            <a:ext cx="4866665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728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C05549B-90EB-0027-3899-AF533440F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Módszertan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20D95EB-1660-3070-4606-5B1733C58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Az esemény napja: 2022. február 24.</a:t>
            </a:r>
          </a:p>
          <a:p>
            <a:r>
              <a:rPr lang="hu-HU" dirty="0"/>
              <a:t>Az eseményablak: t-5. naptól t+5. napig</a:t>
            </a:r>
          </a:p>
          <a:p>
            <a:r>
              <a:rPr lang="hu-HU" dirty="0"/>
              <a:t>A „normál időszak”: t-125. naptól t-6. napig</a:t>
            </a:r>
          </a:p>
          <a:p>
            <a:pPr lvl="1"/>
            <a:r>
              <a:rPr lang="hu-HU" dirty="0"/>
              <a:t>Nincs kihagyott időszak a két időszak között</a:t>
            </a:r>
          </a:p>
          <a:p>
            <a:r>
              <a:rPr lang="hu-HU" dirty="0"/>
              <a:t>A szerzők a „világpiaci” modellt használták</a:t>
            </a:r>
          </a:p>
          <a:p>
            <a:pPr lvl="1"/>
            <a:r>
              <a:rPr lang="hu-HU" dirty="0"/>
              <a:t>ACWI index jelképezte a piacot</a:t>
            </a:r>
          </a:p>
          <a:p>
            <a:r>
              <a:rPr lang="hu-HU" dirty="0"/>
              <a:t>A hozamok számítása kérdéses</a:t>
            </a:r>
          </a:p>
        </p:txBody>
      </p:sp>
    </p:spTree>
    <p:extLst>
      <p:ext uri="{BB962C8B-B14F-4D97-AF65-F5344CB8AC3E}">
        <p14:creationId xmlns:p14="http://schemas.microsoft.com/office/powerpoint/2010/main" val="954897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878BF-26F3-0BAE-41E9-A41C2370E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F09CF0-7658-C586-33CF-28D42803A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Módszertan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AA108766-4D27-8843-1DDC-1B52932EAB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80218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hu-HU" dirty="0"/>
                  <a:t>1. Loghozamok kiszámítása: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hu-HU" b="0" i="1" dirty="0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r>
                      <a:rPr lang="hu-HU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hu-HU" b="0" i="0" dirty="0" smtClean="0"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ctrlPr>
                          <a:rPr lang="hu-HU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hu-HU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hu-HU" b="0" i="1" dirty="0" smtClean="0">
                                    <a:latin typeface="Cambria Math" panose="02040503050406030204" pitchFamily="18" charset="0"/>
                                  </a:rPr>
                                  <m:t>𝑖𝑡</m:t>
                                </m:r>
                              </m:sub>
                            </m:sSub>
                            <m:r>
                              <a:rPr lang="hu-HU" b="0" i="1" dirty="0" smtClean="0">
                                <a:solidFill>
                                  <a:srgbClr val="EE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hu-HU" b="0" i="1" dirty="0" smtClean="0">
                                    <a:solidFill>
                                      <a:srgbClr val="EE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b="0" i="1" dirty="0" smtClean="0">
                                    <a:solidFill>
                                      <a:srgbClr val="EE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hu-HU" b="0" i="1" dirty="0" smtClean="0">
                                    <a:solidFill>
                                      <a:srgbClr val="EE0000"/>
                                    </a:solidFill>
                                    <a:latin typeface="Cambria Math" panose="02040503050406030204" pitchFamily="18" charset="0"/>
                                  </a:rPr>
                                  <m:t>𝑖𝑡</m:t>
                                </m:r>
                                <m:r>
                                  <a:rPr lang="hu-HU" b="0" i="1" dirty="0" smtClean="0">
                                    <a:solidFill>
                                      <a:srgbClr val="EE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hu-HU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hu-HU" b="0" i="1" dirty="0" smtClean="0">
                                    <a:latin typeface="Cambria Math" panose="02040503050406030204" pitchFamily="18" charset="0"/>
                                  </a:rPr>
                                  <m:t>𝑖𝑡</m:t>
                                </m:r>
                                <m:r>
                                  <a:rPr lang="hu-HU" b="0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hu-HU" i="1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hu-HU" dirty="0"/>
                  <a:t>2. Normál hozamok kiszámítása piaci modellel: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hu-HU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u-HU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hu-HU" i="1" dirty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</m:e>
                      </m:d>
                      <m:r>
                        <a:rPr lang="hu-HU" i="0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u-H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hu-HU" i="0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hu-H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hu-H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hu-HU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hu-HU" dirty="0"/>
                  <a:t>3. Abnormális hozamok kiszámítása: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𝐴𝑅</m:t>
                          </m:r>
                        </m:e>
                        <m:sub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hu-HU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u-HU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hu-HU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u-HU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hu-HU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hu-HU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hu-HU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u-HU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hu-HU" dirty="0"/>
                  <a:t>4. Kumulált abnormális hozamok: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hu-HU" i="1" dirty="0">
                            <a:latin typeface="Cambria Math" panose="02040503050406030204" pitchFamily="18" charset="0"/>
                          </a:rPr>
                          <m:t>𝐴𝑅</m:t>
                        </m:r>
                      </m:e>
                      <m:sub>
                        <m:r>
                          <a:rPr lang="hu-HU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hu-HU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b="0" i="1" dirty="0" smtClean="0">
                                <a:latin typeface="Cambria Math" panose="02040503050406030204" pitchFamily="18" charset="0"/>
                              </a:rPr>
                              <m:t>𝛤</m:t>
                            </m:r>
                          </m:e>
                          <m:sub>
                            <m:r>
                              <a:rPr lang="hu-HU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hu-HU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hu-HU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b="0" i="1" dirty="0" smtClean="0">
                                <a:latin typeface="Cambria Math" panose="02040503050406030204" pitchFamily="18" charset="0"/>
                              </a:rPr>
                              <m:t>𝛤</m:t>
                            </m:r>
                          </m:e>
                          <m:sub>
                            <m:r>
                              <a:rPr lang="hu-HU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hu-HU" i="1" dirty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hu-HU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hu-HU" b="0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hu-HU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hu-HU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hu-HU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b="0" i="1" dirty="0" smtClean="0">
                                <a:latin typeface="Cambria Math" panose="02040503050406030204" pitchFamily="18" charset="0"/>
                              </a:rPr>
                              <m:t>𝛤</m:t>
                            </m:r>
                          </m:e>
                          <m:sub>
                            <m:r>
                              <a:rPr lang="hu-HU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hu-HU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b="0" i="1" dirty="0" smtClean="0">
                                <a:latin typeface="Cambria Math" panose="02040503050406030204" pitchFamily="18" charset="0"/>
                              </a:rPr>
                              <m:t>𝛤</m:t>
                            </m:r>
                          </m:e>
                          <m:sub>
                            <m:r>
                              <a:rPr lang="hu-HU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sSub>
                      <m:sSubPr>
                        <m:ctrlPr>
                          <a:rPr lang="hu-H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hu-HU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hu-HU" i="1" dirty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endParaRPr lang="hu-HU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hu-HU" dirty="0"/>
                  <a:t>5. Aggregált abnormális hozamok: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hu-HU" i="1" dirty="0">
                            <a:latin typeface="Cambria Math" panose="02040503050406030204" pitchFamily="18" charset="0"/>
                          </a:rPr>
                          <m:t>𝐴𝑅</m:t>
                        </m:r>
                      </m:e>
                      <m:sub>
                        <m:r>
                          <a:rPr lang="hu-HU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hu-HU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hu-HU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u-HU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hu-HU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sSubSup>
                      <m:sSubSupPr>
                        <m:ctrlPr>
                          <a:rPr lang="hu-HU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hu-HU" dirty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hu-HU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hu-HU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hu-HU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  <m:sSub>
                      <m:sSubPr>
                        <m:ctrlPr>
                          <a:rPr lang="hu-H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i="1" dirty="0">
                            <a:latin typeface="Cambria Math" panose="02040503050406030204" pitchFamily="18" charset="0"/>
                          </a:rPr>
                          <m:t>𝐴𝑅</m:t>
                        </m:r>
                      </m:e>
                      <m:sub>
                        <m:r>
                          <a:rPr lang="hu-HU" i="1" dirty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endParaRPr lang="hu-HU" dirty="0"/>
              </a:p>
            </p:txBody>
          </p:sp>
        </mc:Choice>
        <mc:Fallback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AA108766-4D27-8843-1DDC-1B52932EAB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802187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702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EE4DB-4935-98C0-6119-71F0D4B77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hu-HU" dirty="0"/>
              <a:t>Replikáció</a:t>
            </a:r>
            <a:endParaRPr lang="en-US" dirty="0" err="1"/>
          </a:p>
        </p:txBody>
      </p:sp>
      <p:pic>
        <p:nvPicPr>
          <p:cNvPr id="5" name="Picture 4" descr="Fenntartói értékelések">
            <a:extLst>
              <a:ext uri="{FF2B5EF4-FFF2-40B4-BE49-F238E27FC236}">
                <a16:creationId xmlns:a16="http://schemas.microsoft.com/office/drawing/2014/main" id="{8EE1130A-E7E7-9736-3AD8-17E561F8A0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56" r="7693" b="-1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97167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B595ACA-E701-5235-0076-67C92228F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hu-HU" sz="5400"/>
              <a:t>Saját kutatás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AD9AF3F-CD8B-27BB-F049-6D06D4727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hu-HU" sz="2200" dirty="0"/>
              <a:t>Adat investing.com-</a:t>
            </a:r>
            <a:r>
              <a:rPr lang="hu-HU" sz="2200" dirty="0" err="1"/>
              <a:t>ról</a:t>
            </a:r>
            <a:r>
              <a:rPr lang="hu-HU" sz="2200" dirty="0"/>
              <a:t> kiválogatva az adott országok indexeit</a:t>
            </a:r>
          </a:p>
          <a:p>
            <a:r>
              <a:rPr lang="hu-HU" sz="2200" dirty="0"/>
              <a:t>Mi elsősorban európai országokat néztünk: Balti országok, Skandináv országok, V4 , Vezető európai országok</a:t>
            </a:r>
          </a:p>
          <a:p>
            <a:r>
              <a:rPr lang="hu-HU" sz="2200" dirty="0"/>
              <a:t>A becslési időszak és eseményidőszak hossza megegyezik az eredeti cikkel</a:t>
            </a:r>
          </a:p>
          <a:p>
            <a:endParaRPr lang="hu-HU" sz="2200" dirty="0"/>
          </a:p>
          <a:p>
            <a:endParaRPr lang="hu-HU" sz="22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BF21AC6-81A6-7EC9-010E-8C9197693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680" y="640080"/>
            <a:ext cx="4949704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024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agramm in Excel erstellen und bearbeiten - Office-Lernen.com">
            <a:extLst>
              <a:ext uri="{FF2B5EF4-FFF2-40B4-BE49-F238E27FC236}">
                <a16:creationId xmlns:a16="http://schemas.microsoft.com/office/drawing/2014/main" id="{D6E3B26A-9EF2-702C-FAF1-9442625D3D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04" r="1" b="1"/>
          <a:stretch>
            <a:fillRect/>
          </a:stretch>
        </p:blipFill>
        <p:spPr>
          <a:xfrm>
            <a:off x="0" y="10"/>
            <a:ext cx="9669642" cy="6857990"/>
          </a:xfrm>
          <a:prstGeom prst="rect">
            <a:avLst/>
          </a:prstGeom>
        </p:spPr>
      </p:pic>
      <p:sp>
        <p:nvSpPr>
          <p:cNvPr id="8" name="Rectangle 11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9DBF2EB-A6F7-64DE-FA4C-5908A5334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5402" y="743447"/>
            <a:ext cx="344576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hu-HU" sz="4800" dirty="0"/>
              <a:t>Eredmények</a:t>
            </a:r>
          </a:p>
        </p:txBody>
      </p:sp>
    </p:spTree>
    <p:extLst>
      <p:ext uri="{BB962C8B-B14F-4D97-AF65-F5344CB8AC3E}">
        <p14:creationId xmlns:p14="http://schemas.microsoft.com/office/powerpoint/2010/main" val="3364564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A945D6-2D9B-B9E6-8D80-CEB8929C1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7D0107F-6930-61BC-0ECB-D54C1ECF3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132" y="1330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hu-HU" sz="5200" dirty="0"/>
              <a:t>Elemzési eredmények</a:t>
            </a:r>
            <a:endParaRPr lang="en-US" sz="5200" dirty="0"/>
          </a:p>
        </p:txBody>
      </p:sp>
      <p:pic>
        <p:nvPicPr>
          <p:cNvPr id="4" name="Kép 3" descr="A képen diagram, Diagram, sor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83E592A-3C19-3682-818A-352C52739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09" y="1247461"/>
            <a:ext cx="11405883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360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E09D0-ED8B-9675-E068-5B7394785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988CA0-68E4-25A4-5509-7E3CE75E1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hu-HU" sz="5200" dirty="0"/>
              <a:t>Kutatási eredmények összevetése</a:t>
            </a:r>
            <a:endParaRPr lang="en-US" sz="5200" dirty="0"/>
          </a:p>
        </p:txBody>
      </p:sp>
      <p:pic>
        <p:nvPicPr>
          <p:cNvPr id="13" name="Kép 12" descr="A képen szöveg, képernyőkép, szám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30F5A52-7359-747D-3AB7-7E889AB1B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954" y="1987450"/>
            <a:ext cx="8327865" cy="4309669"/>
          </a:xfrm>
          <a:prstGeom prst="rect">
            <a:avLst/>
          </a:prstGeom>
        </p:spPr>
      </p:pic>
      <p:sp>
        <p:nvSpPr>
          <p:cNvPr id="17" name="Szövegdoboz 16">
            <a:extLst>
              <a:ext uri="{FF2B5EF4-FFF2-40B4-BE49-F238E27FC236}">
                <a16:creationId xmlns:a16="http://schemas.microsoft.com/office/drawing/2014/main" id="{6962134E-3816-C97D-EE57-1203E299973A}"/>
              </a:ext>
            </a:extLst>
          </p:cNvPr>
          <p:cNvSpPr txBox="1"/>
          <p:nvPr/>
        </p:nvSpPr>
        <p:spPr>
          <a:xfrm>
            <a:off x="412750" y="2082800"/>
            <a:ext cx="415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Eredeti tanulmány</a:t>
            </a:r>
          </a:p>
        </p:txBody>
      </p:sp>
    </p:spTree>
    <p:extLst>
      <p:ext uri="{BB962C8B-B14F-4D97-AF65-F5344CB8AC3E}">
        <p14:creationId xmlns:p14="http://schemas.microsoft.com/office/powerpoint/2010/main" val="4155081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1C62F6-2DF8-E997-4590-1FC4FE752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F97B0AA6-8954-8CEA-53BB-945EB7383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EBC407D-DD82-FBFF-1A16-19A78FB54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hu-HU" sz="5200" dirty="0"/>
              <a:t>Kutatási eredmények összevetése</a:t>
            </a:r>
            <a:endParaRPr lang="en-US" sz="5200" dirty="0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880374B5-6624-9756-43B0-AB3487C1055D}"/>
              </a:ext>
            </a:extLst>
          </p:cNvPr>
          <p:cNvSpPr txBox="1"/>
          <p:nvPr/>
        </p:nvSpPr>
        <p:spPr>
          <a:xfrm>
            <a:off x="412750" y="2082800"/>
            <a:ext cx="415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Saját replika</a:t>
            </a:r>
          </a:p>
        </p:txBody>
      </p:sp>
      <p:pic>
        <p:nvPicPr>
          <p:cNvPr id="6" name="Kép 5" descr="A képen szöveg, képernyőkép, szám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C5BC8B2-89B7-3B23-D7B8-41C72AC66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1098"/>
            <a:ext cx="12192000" cy="410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041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C3BEB2-7A77-78A2-0F71-9CE6B6FBB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E7D8F7EE-0ADE-5E21-5878-F5C1CE7A6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8C7C9E1-7B5A-FA97-2EF0-C138CF69A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132" y="1330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hu-HU" sz="5200" dirty="0"/>
              <a:t>Elemzési eredmények</a:t>
            </a:r>
            <a:endParaRPr lang="en-US" sz="5200" dirty="0"/>
          </a:p>
        </p:txBody>
      </p:sp>
      <p:pic>
        <p:nvPicPr>
          <p:cNvPr id="5" name="Kép 4" descr="A képen diagram, sor, Diagram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DA520C5-95D1-EB21-5910-6F7F35FDD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09" y="1247461"/>
            <a:ext cx="11405883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82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BCCAB-B350-B0D4-3DFD-B243B9CF3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0FF534-4B38-33C9-ADA8-22573207C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hu-HU" sz="5200" dirty="0"/>
              <a:t>Kutatási eredmények összevetése</a:t>
            </a:r>
            <a:endParaRPr lang="en-US" sz="5200" dirty="0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F995F8FC-CB6A-48B3-0551-8E57C42B03CB}"/>
              </a:ext>
            </a:extLst>
          </p:cNvPr>
          <p:cNvSpPr txBox="1"/>
          <p:nvPr/>
        </p:nvSpPr>
        <p:spPr>
          <a:xfrm>
            <a:off x="412750" y="2082800"/>
            <a:ext cx="415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Eredeti tanulmány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C5667D96-EBE3-3F26-3010-333D2AB25763}"/>
              </a:ext>
            </a:extLst>
          </p:cNvPr>
          <p:cNvSpPr txBox="1"/>
          <p:nvPr/>
        </p:nvSpPr>
        <p:spPr>
          <a:xfrm>
            <a:off x="6094475" y="2082800"/>
            <a:ext cx="415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Saját replika</a:t>
            </a:r>
          </a:p>
        </p:txBody>
      </p:sp>
      <p:pic>
        <p:nvPicPr>
          <p:cNvPr id="5" name="Kép 4" descr="A képen szöveg, képernyőkép, szám, menü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FB06651-E4F4-D577-BCA6-CB0A72249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852"/>
          <a:stretch>
            <a:fillRect/>
          </a:stretch>
        </p:blipFill>
        <p:spPr>
          <a:xfrm>
            <a:off x="6094475" y="2407683"/>
            <a:ext cx="5522081" cy="3202896"/>
          </a:xfrm>
          <a:prstGeom prst="rect">
            <a:avLst/>
          </a:prstGeom>
        </p:spPr>
      </p:pic>
      <p:pic>
        <p:nvPicPr>
          <p:cNvPr id="8" name="Kép 7" descr="A képen szöveg, képernyőkép, szám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8AD9AB8-75FB-BA5D-41B9-E3FB240505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29" y="2658922"/>
            <a:ext cx="4867521" cy="277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621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138+ Thousand Decision Abstract Royalty-Free Images, Stock Photos &amp;  Pictures | Shutterstock">
            <a:extLst>
              <a:ext uri="{FF2B5EF4-FFF2-40B4-BE49-F238E27FC236}">
                <a16:creationId xmlns:a16="http://schemas.microsoft.com/office/drawing/2014/main" id="{D43A3CCB-4146-4E34-C3AB-D475C356D4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91" r="-2" b="-2"/>
          <a:stretch>
            <a:fillRect/>
          </a:stretch>
        </p:blipFill>
        <p:spPr>
          <a:xfrm>
            <a:off x="7544661" y="323519"/>
            <a:ext cx="4323899" cy="6212748"/>
          </a:xfrm>
          <a:custGeom>
            <a:avLst/>
            <a:gdLst/>
            <a:ahLst/>
            <a:cxnLst/>
            <a:rect l="l" t="t" r="r" b="b"/>
            <a:pathLst>
              <a:path w="4323899" h="6212748">
                <a:moveTo>
                  <a:pt x="0" y="0"/>
                </a:move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close/>
              </a:path>
            </a:pathLst>
          </a:cu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CC285100-AD59-0063-AB2A-7775ECD18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59" y="918250"/>
            <a:ext cx="5917521" cy="1056454"/>
          </a:xfrm>
        </p:spPr>
        <p:txBody>
          <a:bodyPr>
            <a:normAutofit/>
          </a:bodyPr>
          <a:lstStyle/>
          <a:p>
            <a:r>
              <a:rPr lang="hu-HU" dirty="0"/>
              <a:t>Következtetések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6A197F-D649-F56A-FF69-75B344DC73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23359" y="1978181"/>
            <a:ext cx="5917520" cy="27281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hu-HU" altLang="hu-HU" sz="2400" dirty="0"/>
              <a:t>Az eredmények közel megegyeznek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hu-HU" altLang="hu-HU" sz="2400" dirty="0"/>
              <a:t>Nem csak olyan országokat válogattak össze ahol szignifikáns az adat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hu-HU" altLang="hu-HU" sz="2400" dirty="0"/>
              <a:t>Mindkét tanulmányban ugyanazon országokra volt a legnagyobb hatás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hu-HU" altLang="hu-HU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184E92-0795-CD18-48D9-A8DB35AD2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80141" y="5850685"/>
            <a:ext cx="1673352" cy="10058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2919479-61B0-4A20-A04C-040043B3D9D7}" type="slidenum">
              <a:rPr lang="hu-HU" dirty="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22</a:t>
            </a:fld>
            <a:endParaRPr lang="en-US" sz="1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9593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90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TM03457464[[fn=Osztalék]]</Template>
  <TotalTime>456</TotalTime>
  <Words>625</Words>
  <Application>Microsoft Office PowerPoint</Application>
  <PresentationFormat>Szélesvásznú</PresentationFormat>
  <Paragraphs>97</Paragraphs>
  <Slides>23</Slides>
  <Notes>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Office-téma</vt:lpstr>
      <vt:lpstr>A 2024-es amerikai elnökválasztás hatása egyes részvények áraira</vt:lpstr>
      <vt:lpstr>Tartalom</vt:lpstr>
      <vt:lpstr>Kutatási kérdés</vt:lpstr>
      <vt:lpstr>Milyen hatással volt Trump 2024-es megválasztása egyes amerikai részvényekre?</vt:lpstr>
      <vt:lpstr>Vonatkozó szakirodalom</vt:lpstr>
      <vt:lpstr>3 fő következtetés</vt:lpstr>
      <vt:lpstr>Lehetséges kimenetelek</vt:lpstr>
      <vt:lpstr>PowerPoint-bemutató</vt:lpstr>
      <vt:lpstr>PowerPoint-bemutató</vt:lpstr>
      <vt:lpstr>Eredeti tanulmány</vt:lpstr>
      <vt:lpstr>Eredeti tanulmány eredményei</vt:lpstr>
      <vt:lpstr>Módszertan</vt:lpstr>
      <vt:lpstr>Módszertan</vt:lpstr>
      <vt:lpstr>Replikáció</vt:lpstr>
      <vt:lpstr>Saját kutatás </vt:lpstr>
      <vt:lpstr>Eredmények</vt:lpstr>
      <vt:lpstr>Elemzési eredmények</vt:lpstr>
      <vt:lpstr>Kutatási eredmények összevetése</vt:lpstr>
      <vt:lpstr>Kutatási eredmények összevetése</vt:lpstr>
      <vt:lpstr>Elemzési eredmények</vt:lpstr>
      <vt:lpstr>Kutatási eredmények összevetése</vt:lpstr>
      <vt:lpstr>Következtetések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Mátyás Klimkó</dc:creator>
  <cp:lastModifiedBy>Norbert Szőcs</cp:lastModifiedBy>
  <cp:revision>23</cp:revision>
  <dcterms:created xsi:type="dcterms:W3CDTF">2025-11-13T19:09:07Z</dcterms:created>
  <dcterms:modified xsi:type="dcterms:W3CDTF">2025-12-03T17:55:09Z</dcterms:modified>
</cp:coreProperties>
</file>